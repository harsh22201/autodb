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8"/>
  </p:notesMasterIdLst>
  <p:sldIdLst>
    <p:sldId id="256" r:id="rId2"/>
    <p:sldId id="267" r:id="rId3"/>
    <p:sldId id="266" r:id="rId4"/>
    <p:sldId id="263" r:id="rId5"/>
    <p:sldId id="260" r:id="rId6"/>
    <p:sldId id="261" r:id="rId7"/>
  </p:sldIdLst>
  <p:sldSz cx="12192000" cy="68580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5E15E-2B9A-410F-83A0-E774A41C1451}" v="1744" dt="2026-04-26T22:30:45.624"/>
    <p1510:client id="{E962C05C-6B6D-FE61-7A99-0DD471EFB4E2}" v="762" dt="2026-04-26T21:44:34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F5976-EB98-8746-A1AB-E1E91A21A7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61766-1617-884B-9C44-28E19E458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31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E5BA-33BB-FC9D-0318-2E293BF4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496ED-9643-59D2-DCD4-5AEDF1802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21827-4EB6-C9F8-0CC7-6F08DAAEA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9E52A-094A-574F-4BF5-540BDFDE9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02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578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0396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1685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398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80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809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AA28-67D6-4E61-A0F7-8783B3154443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6F6E-C69D-452E-AC18-DAB327A8E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5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189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4472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261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191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71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2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8.0088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rxiv.org/pdf/2407.0952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706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9797"/>
            <a:ext cx="12192000" cy="2328203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2192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33" b="1" dirty="0">
                <a:solidFill>
                  <a:srgbClr val="FFFFFF"/>
                </a:solidFill>
              </a:rPr>
              <a:t>UniQuery</a:t>
            </a:r>
            <a:endParaRPr lang="en-US" sz="6133" dirty="0"/>
          </a:p>
        </p:txBody>
      </p:sp>
      <p:sp>
        <p:nvSpPr>
          <p:cNvPr id="5" name="Text 3"/>
          <p:cNvSpPr/>
          <p:nvPr/>
        </p:nvSpPr>
        <p:spPr>
          <a:xfrm>
            <a:off x="609600" y="2551879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dirty="0">
                <a:solidFill>
                  <a:srgbClr val="1A2E4A"/>
                </a:solidFill>
              </a:rPr>
              <a:t>Ambiguity-Aware Query Processing over Relational Data</a:t>
            </a:r>
            <a:endParaRPr lang="en-US" sz="2800" dirty="0"/>
          </a:p>
          <a:p>
            <a:r>
              <a:rPr lang="en-US" sz="2800" dirty="0">
                <a:solidFill>
                  <a:srgbClr val="1A2E4A"/>
                </a:solidFill>
              </a:rPr>
              <a:t>with LLM-based Unstructured Knowledge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3982095"/>
            <a:ext cx="10972800" cy="0"/>
          </a:xfrm>
          <a:prstGeom prst="line">
            <a:avLst/>
          </a:prstGeom>
          <a:noFill/>
          <a:ln w="12700">
            <a:solidFill>
              <a:srgbClr val="E0E6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EB24-E355-F61F-5CD4-5B988BB4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D8EC96-8114-3E82-D9C9-13F43B3EDD59}"/>
              </a:ext>
            </a:extLst>
          </p:cNvPr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CEDC84-4C76-41C2-ADE6-B0783518FAB7}"/>
              </a:ext>
            </a:extLst>
          </p:cNvPr>
          <p:cNvSpPr/>
          <p:nvPr/>
        </p:nvSpPr>
        <p:spPr>
          <a:xfrm>
            <a:off x="487680" y="0"/>
            <a:ext cx="11216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The Gap Between Users and Data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6BCDED-C8AE-349B-1A70-530E88AD075F}"/>
              </a:ext>
            </a:extLst>
          </p:cNvPr>
          <p:cNvSpPr/>
          <p:nvPr/>
        </p:nvSpPr>
        <p:spPr>
          <a:xfrm>
            <a:off x="366381" y="1148846"/>
            <a:ext cx="11216639" cy="55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Massive Growth of Enterprise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Organizations manage large volumes of </a:t>
            </a:r>
            <a:r>
              <a:rPr lang="en-US" sz="2400" b="1" dirty="0"/>
              <a:t>structured </a:t>
            </a:r>
            <a:r>
              <a:rPr lang="en-US" sz="2400" dirty="0"/>
              <a:t>(profile, orders, transactions) and </a:t>
            </a:r>
            <a:r>
              <a:rPr lang="en-US" sz="2400" b="1" dirty="0"/>
              <a:t>unstructured data</a:t>
            </a:r>
            <a:r>
              <a:rPr lang="en-US" sz="2400" dirty="0"/>
              <a:t> (reports, documents, web sources etc.)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
LLMs Make Data Accessible to Non-Technical Users using NL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Structured Data </a:t>
            </a:r>
            <a:r>
              <a:rPr lang="en-US" sz="2400" dirty="0"/>
              <a:t>can be process using </a:t>
            </a:r>
            <a:r>
              <a:rPr lang="en-US" sz="2400" b="1" dirty="0"/>
              <a:t>NL2SQL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1A2E4A"/>
                </a:solidFill>
              </a:rPr>
              <a:t>systems </a:t>
            </a:r>
            <a:endParaRPr lang="en-US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While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Unstructured Data </a:t>
            </a:r>
            <a:r>
              <a:rPr lang="en-US" sz="2400" dirty="0"/>
              <a:t>is handled using </a:t>
            </a:r>
            <a:r>
              <a:rPr lang="en-US" sz="2400" b="1" dirty="0"/>
              <a:t>RAG and Fine-Tuning</a:t>
            </a:r>
            <a:r>
              <a:rPr lang="en-U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analytical workflows increasingly requires </a:t>
            </a:r>
            <a:r>
              <a:rPr lang="en-US" sz="2400" b="1" dirty="0"/>
              <a:t>combining both data types</a:t>
            </a:r>
            <a:endParaRPr lang="en-US" sz="2400" dirty="0"/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Limitations of Existing Integration systems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Approaches such as </a:t>
            </a:r>
            <a:r>
              <a:rPr lang="en-US" sz="2400" dirty="0">
                <a:hlinkClick r:id="rId3"/>
              </a:rPr>
              <a:t>SWAN</a:t>
            </a:r>
            <a:r>
              <a:rPr lang="en-US" sz="2400" dirty="0"/>
              <a:t> and </a:t>
            </a:r>
            <a:r>
              <a:rPr lang="en-US" sz="2400" dirty="0">
                <a:hlinkClick r:id="rId4"/>
              </a:rPr>
              <a:t>UQE</a:t>
            </a:r>
            <a:r>
              <a:rPr lang="en-US" sz="2400" dirty="0"/>
              <a:t> requires specified hybrid query formulations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They don’t automatically determine which components require structured data processing versus unstructured retrieval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sz="2400" dirty="0">
              <a:solidFill>
                <a:srgbClr val="1A2E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7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3ACD-A459-D0FF-596A-8CEED2DE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141854-83C2-0A4F-5302-A38968FEC126}"/>
              </a:ext>
            </a:extLst>
          </p:cNvPr>
          <p:cNvSpPr txBox="1"/>
          <p:nvPr/>
        </p:nvSpPr>
        <p:spPr>
          <a:xfrm>
            <a:off x="303260" y="1898926"/>
            <a:ext cx="11346423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/>
              <a:t>Query : </a:t>
            </a:r>
          </a:p>
          <a:p>
            <a:pPr algn="ctr"/>
            <a:r>
              <a:rPr lang="en-IN" sz="2000" b="1"/>
              <a:t>“ Show</a:t>
            </a:r>
            <a:r>
              <a:rPr lang="en-IN" sz="2000" b="1">
                <a:solidFill>
                  <a:srgbClr val="000000"/>
                </a:solidFill>
              </a:rPr>
              <a:t>   </a:t>
            </a:r>
            <a:r>
              <a:rPr lang="en-IN" sz="2000" b="1">
                <a:solidFill>
                  <a:schemeClr val="accent1">
                    <a:lumMod val="76000"/>
                  </a:schemeClr>
                </a:solidFill>
              </a:rPr>
              <a:t>the best performing</a:t>
            </a:r>
            <a:r>
              <a:rPr lang="en-IN" sz="2000" b="1">
                <a:solidFill>
                  <a:srgbClr val="FF0000"/>
                </a:solidFill>
              </a:rPr>
              <a:t> </a:t>
            </a:r>
            <a:r>
              <a:rPr lang="en-IN" sz="2000" b="1">
                <a:solidFill>
                  <a:schemeClr val="accent6">
                    <a:lumMod val="76000"/>
                  </a:schemeClr>
                </a:solidFill>
              </a:rPr>
              <a:t>            cosmetic products</a:t>
            </a:r>
            <a:r>
              <a:rPr lang="en-IN" sz="2000" b="1">
                <a:solidFill>
                  <a:srgbClr val="C00000"/>
                </a:solidFill>
              </a:rPr>
              <a:t>        </a:t>
            </a:r>
            <a:r>
              <a:rPr lang="en-IN" sz="2000" b="1"/>
              <a:t>from </a:t>
            </a:r>
            <a:r>
              <a:rPr lang="en-IN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    </a:t>
            </a:r>
            <a:r>
              <a:rPr lang="en-IN" sz="2000" b="1">
                <a:solidFill>
                  <a:srgbClr val="7030A0"/>
                </a:solidFill>
              </a:rPr>
              <a:t>  environmentally friendly brands</a:t>
            </a:r>
            <a:r>
              <a:rPr lang="en-IN" sz="2000" b="1">
                <a:solidFill>
                  <a:schemeClr val="accent2">
                    <a:lumMod val="76000"/>
                  </a:schemeClr>
                </a:solidFill>
              </a:rPr>
              <a:t> </a:t>
            </a:r>
            <a:r>
              <a:rPr lang="en-IN" sz="2000" b="1"/>
              <a:t>”</a:t>
            </a:r>
            <a:endParaRPr lang="en-IN" sz="2000" b="1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565F76-119D-A09B-AE66-13A9E90CE867}"/>
              </a:ext>
            </a:extLst>
          </p:cNvPr>
          <p:cNvCxnSpPr>
            <a:cxnSpLocks/>
          </p:cNvCxnSpPr>
          <p:nvPr/>
        </p:nvCxnSpPr>
        <p:spPr>
          <a:xfrm>
            <a:off x="9480752" y="2601700"/>
            <a:ext cx="0" cy="2436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594D3A-626B-EA3B-C486-E741094EBCCE}"/>
              </a:ext>
            </a:extLst>
          </p:cNvPr>
          <p:cNvCxnSpPr>
            <a:cxnSpLocks/>
          </p:cNvCxnSpPr>
          <p:nvPr/>
        </p:nvCxnSpPr>
        <p:spPr>
          <a:xfrm>
            <a:off x="5400332" y="2643289"/>
            <a:ext cx="0" cy="191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121557-89A7-C217-BA6A-130BC65761D6}"/>
              </a:ext>
            </a:extLst>
          </p:cNvPr>
          <p:cNvSpPr txBox="1"/>
          <p:nvPr/>
        </p:nvSpPr>
        <p:spPr>
          <a:xfrm>
            <a:off x="822682" y="4223474"/>
            <a:ext cx="2997669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/>
              <a:t>What does “best performing” </a:t>
            </a:r>
            <a:endParaRPr lang="en-US"/>
          </a:p>
          <a:p>
            <a:r>
              <a:rPr lang="en-IN"/>
              <a:t>mean — sales, ratings, or frequency?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C01BE-D56A-3C9E-E87C-200AABEEEFD6}"/>
              </a:ext>
            </a:extLst>
          </p:cNvPr>
          <p:cNvSpPr txBox="1"/>
          <p:nvPr/>
        </p:nvSpPr>
        <p:spPr>
          <a:xfrm>
            <a:off x="3828316" y="5289698"/>
            <a:ext cx="357676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/>
              <a:t>How </a:t>
            </a:r>
            <a:r>
              <a:rPr lang="en-IN" err="1"/>
              <a:t>t</a:t>
            </a:r>
            <a:r>
              <a:rPr lang="en-IN"/>
              <a:t>o interpret “cosmetics” across schema attributes (category, </a:t>
            </a:r>
            <a:r>
              <a:rPr lang="en-IN" err="1"/>
              <a:t>sub_category</a:t>
            </a:r>
            <a:r>
              <a:rPr lang="en-IN"/>
              <a:t>, </a:t>
            </a:r>
            <a:r>
              <a:rPr lang="en-IN" err="1"/>
              <a:t>sub_sub_category</a:t>
            </a:r>
            <a:r>
              <a:rPr lang="en-IN"/>
              <a:t>) and Value (makeup, face care)?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B9AD09-EC07-BA88-EA70-ED8A165BE51D}"/>
              </a:ext>
            </a:extLst>
          </p:cNvPr>
          <p:cNvSpPr txBox="1"/>
          <p:nvPr/>
        </p:nvSpPr>
        <p:spPr>
          <a:xfrm>
            <a:off x="7958926" y="5741561"/>
            <a:ext cx="4096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And how do we determine brands which are  “environmentally friendly” as this data doesn’t exist in SQL database?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BBFEE8-FE7E-D739-E1C7-22D29D5EB5DB}"/>
              </a:ext>
            </a:extLst>
          </p:cNvPr>
          <p:cNvSpPr txBox="1"/>
          <p:nvPr/>
        </p:nvSpPr>
        <p:spPr>
          <a:xfrm>
            <a:off x="882080" y="3644694"/>
            <a:ext cx="274114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solidFill>
                  <a:schemeClr val="accent1">
                    <a:lumMod val="76000"/>
                  </a:schemeClr>
                </a:solidFill>
              </a:rPr>
              <a:t>Intent Ambiguity</a:t>
            </a:r>
            <a:endParaRPr lang="en-US"/>
          </a:p>
          <a:p>
            <a:r>
              <a:rPr lang="en-US" sz="1400" i="1">
                <a:solidFill>
                  <a:srgbClr val="4A5568"/>
                </a:solidFill>
                <a:ea typeface="Calibri"/>
                <a:cs typeface="Calibri"/>
              </a:rPr>
              <a:t>Multiple Valid Interpretations</a:t>
            </a:r>
            <a:endParaRPr lang="en-IN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439821-18C6-7C27-0F5C-0303D7CDBC0E}"/>
              </a:ext>
            </a:extLst>
          </p:cNvPr>
          <p:cNvSpPr txBox="1"/>
          <p:nvPr/>
        </p:nvSpPr>
        <p:spPr>
          <a:xfrm>
            <a:off x="3853643" y="4702967"/>
            <a:ext cx="381466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Value </a:t>
            </a:r>
            <a:r>
              <a:rPr lang="en-IN" b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Ambiguity</a:t>
            </a:r>
            <a:endParaRPr lang="en-IN" b="1" dirty="0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US" sz="1400" i="1" dirty="0">
                <a:solidFill>
                  <a:srgbClr val="4A5568"/>
                </a:solidFill>
                <a:ea typeface="Calibri"/>
                <a:cs typeface="Calibri"/>
              </a:rPr>
              <a:t>Vocabulary Gap between User and Database</a:t>
            </a:r>
            <a:endParaRPr lang="en-IN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B3F503-8443-2535-938C-0ACDAD927A98}"/>
              </a:ext>
            </a:extLst>
          </p:cNvPr>
          <p:cNvSpPr txBox="1"/>
          <p:nvPr/>
        </p:nvSpPr>
        <p:spPr>
          <a:xfrm>
            <a:off x="7961234" y="5151125"/>
            <a:ext cx="36934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Data Integration</a:t>
            </a:r>
            <a:br>
              <a:rPr lang="en-US" b="1" dirty="0"/>
            </a:br>
            <a:r>
              <a:rPr lang="en-IN" sz="1400" i="1" dirty="0">
                <a:solidFill>
                  <a:schemeClr val="tx1">
                    <a:lumMod val="49000"/>
                    <a:lumOff val="51000"/>
                  </a:schemeClr>
                </a:solidFill>
              </a:rPr>
              <a:t>Closed World Assumption of Databases</a:t>
            </a:r>
            <a:endParaRPr lang="en-IN" sz="1400" i="1" dirty="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50C964-9C68-433B-9FB0-518AAE380070}"/>
              </a:ext>
            </a:extLst>
          </p:cNvPr>
          <p:cNvSpPr txBox="1"/>
          <p:nvPr/>
        </p:nvSpPr>
        <p:spPr>
          <a:xfrm>
            <a:off x="-201269" y="1188962"/>
            <a:ext cx="111734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>
                <a:latin typeface="Inconsolatazi4-Regular"/>
              </a:rPr>
              <a:t>         Schema : </a:t>
            </a:r>
          </a:p>
          <a:p>
            <a:pPr algn="l"/>
            <a:r>
              <a:rPr lang="en-IN" sz="2000" b="0" i="0" u="none" strike="noStrike" baseline="0">
                <a:latin typeface="Inconsolatazi4-Regular"/>
              </a:rPr>
              <a:t>	products (</a:t>
            </a:r>
            <a:r>
              <a:rPr lang="en-IN" sz="2000" b="0" i="0" u="none" strike="noStrike" baseline="0" err="1">
                <a:latin typeface="Inconsolatazi4-Regular"/>
              </a:rPr>
              <a:t>product_id</a:t>
            </a:r>
            <a:r>
              <a:rPr lang="en-IN" sz="2000" b="0" i="0" u="none" strike="noStrike" baseline="0">
                <a:latin typeface="Inconsolatazi4-Regular"/>
              </a:rPr>
              <a:t>, </a:t>
            </a:r>
            <a:r>
              <a:rPr lang="en-US" sz="2000" b="0" i="0" u="none" strike="noStrike" baseline="0" err="1">
                <a:latin typeface="Inconsolatazi4-Regular"/>
              </a:rPr>
              <a:t>product_name</a:t>
            </a:r>
            <a:r>
              <a:rPr lang="en-US" sz="2000" b="0" i="0" u="none" strike="noStrike" baseline="0">
                <a:latin typeface="Inconsolatazi4-Regular"/>
              </a:rPr>
              <a:t>, category, </a:t>
            </a:r>
            <a:r>
              <a:rPr lang="en-US" sz="2000" b="0" i="0" u="none" strike="noStrike" baseline="0" err="1">
                <a:latin typeface="Inconsolatazi4-Regular"/>
              </a:rPr>
              <a:t>sub_category</a:t>
            </a:r>
            <a:r>
              <a:rPr lang="en-US" sz="2000" b="0" i="0" u="none" strike="noStrike" baseline="0">
                <a:latin typeface="Inconsolatazi4-Regular"/>
              </a:rPr>
              <a:t>, </a:t>
            </a:r>
            <a:r>
              <a:rPr lang="en-US" sz="2000" b="0" i="0" u="none" strike="noStrike" baseline="0" err="1">
                <a:latin typeface="Inconsolatazi4-Regular"/>
              </a:rPr>
              <a:t>sub_sub_category</a:t>
            </a:r>
            <a:r>
              <a:rPr lang="en-US" sz="2000" b="0" i="0" u="none" strike="noStrike" baseline="0">
                <a:latin typeface="Inconsolatazi4-Regular"/>
              </a:rPr>
              <a:t>, </a:t>
            </a:r>
            <a:r>
              <a:rPr lang="en-IN" sz="2000" b="0" i="0" u="none" strike="noStrike" baseline="0">
                <a:latin typeface="Inconsolatazi4-Regular"/>
              </a:rPr>
              <a:t>brand, price)</a:t>
            </a:r>
            <a:r>
              <a:rPr lang="en-IN" sz="2000" b="0" i="0" u="none" strike="noStrike" baseline="0">
                <a:latin typeface="LinLibertineT"/>
              </a:rPr>
              <a:t>.</a:t>
            </a:r>
            <a:endParaRPr lang="en-IN" sz="200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93D4C07D-8073-25EC-6B42-B06BA926BC4E}"/>
              </a:ext>
            </a:extLst>
          </p:cNvPr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909DC-39D6-A4B9-DF09-FFAFBFFFBF6C}"/>
              </a:ext>
            </a:extLst>
          </p:cNvPr>
          <p:cNvSpPr txBox="1"/>
          <p:nvPr/>
        </p:nvSpPr>
        <p:spPr>
          <a:xfrm>
            <a:off x="147851" y="210403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ea typeface="Calibri"/>
                <a:cs typeface="Calibri"/>
              </a:rPr>
              <a:t>NLSQL Challenges</a:t>
            </a:r>
            <a:r>
              <a:rPr lang="en-US" sz="2800"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7C11F78F-D3D0-1ADF-2992-A7C4BE792237}"/>
              </a:ext>
            </a:extLst>
          </p:cNvPr>
          <p:cNvSpPr/>
          <p:nvPr/>
        </p:nvSpPr>
        <p:spPr>
          <a:xfrm>
            <a:off x="365760" y="4744053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03</a:t>
            </a:r>
            <a:endParaRPr lang="en-US" sz="160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886FD551-3A65-6C85-49B2-99BB71FF9E93}"/>
              </a:ext>
            </a:extLst>
          </p:cNvPr>
          <p:cNvSpPr/>
          <p:nvPr/>
        </p:nvSpPr>
        <p:spPr>
          <a:xfrm>
            <a:off x="365760" y="312115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02</a:t>
            </a:r>
            <a:endParaRPr lang="en-US" sz="16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5778E5-A66E-ADBF-161A-928BEFE8CACA}"/>
              </a:ext>
            </a:extLst>
          </p:cNvPr>
          <p:cNvCxnSpPr>
            <a:cxnSpLocks/>
          </p:cNvCxnSpPr>
          <p:nvPr/>
        </p:nvCxnSpPr>
        <p:spPr>
          <a:xfrm>
            <a:off x="2337620" y="2609170"/>
            <a:ext cx="0" cy="93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 5">
            <a:extLst>
              <a:ext uri="{FF2B5EF4-FFF2-40B4-BE49-F238E27FC236}">
                <a16:creationId xmlns:a16="http://schemas.microsoft.com/office/drawing/2014/main" id="{3681C663-03E4-CAEC-61FD-85B9909FBF20}"/>
              </a:ext>
            </a:extLst>
          </p:cNvPr>
          <p:cNvSpPr/>
          <p:nvPr/>
        </p:nvSpPr>
        <p:spPr>
          <a:xfrm>
            <a:off x="716942" y="3639794"/>
            <a:ext cx="54864" cy="1511808"/>
          </a:xfrm>
          <a:prstGeom prst="rect">
            <a:avLst/>
          </a:prstGeom>
          <a:solidFill>
            <a:srgbClr val="1A2E4A"/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F4309D8D-1342-C05E-C99A-0FE72FC361CA}"/>
              </a:ext>
            </a:extLst>
          </p:cNvPr>
          <p:cNvSpPr/>
          <p:nvPr/>
        </p:nvSpPr>
        <p:spPr>
          <a:xfrm>
            <a:off x="3621377" y="4790796"/>
            <a:ext cx="54864" cy="1511808"/>
          </a:xfrm>
          <a:prstGeom prst="rect">
            <a:avLst/>
          </a:prstGeom>
          <a:solidFill>
            <a:srgbClr val="1A2E4A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1E97D55C-0BC6-1CD4-3EEB-5C33F9657845}"/>
              </a:ext>
            </a:extLst>
          </p:cNvPr>
          <p:cNvSpPr/>
          <p:nvPr/>
        </p:nvSpPr>
        <p:spPr>
          <a:xfrm>
            <a:off x="7773726" y="5263185"/>
            <a:ext cx="54864" cy="1511808"/>
          </a:xfrm>
          <a:prstGeom prst="rect">
            <a:avLst/>
          </a:prstGeom>
          <a:solidFill>
            <a:srgbClr val="1A2E4A"/>
          </a:solidFill>
          <a:ln w="12700">
            <a:solidFill>
              <a:srgbClr val="623D8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204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07F5-DF4D-8A9C-8623-F6560CBC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E9E2E4-B269-4668-E9D5-9EF283336E65}"/>
              </a:ext>
            </a:extLst>
          </p:cNvPr>
          <p:cNvSpPr/>
          <p:nvPr/>
        </p:nvSpPr>
        <p:spPr>
          <a:xfrm>
            <a:off x="1679487" y="1491176"/>
            <a:ext cx="2407535" cy="4899793"/>
          </a:xfrm>
          <a:prstGeom prst="roundRect">
            <a:avLst>
              <a:gd name="adj" fmla="val 6644"/>
            </a:avLst>
          </a:prstGeom>
          <a:solidFill>
            <a:srgbClr val="E5F3F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CB7BC-D3F8-D36F-3884-1187F4DCB621}"/>
              </a:ext>
            </a:extLst>
          </p:cNvPr>
          <p:cNvCxnSpPr>
            <a:cxnSpLocks/>
          </p:cNvCxnSpPr>
          <p:nvPr/>
        </p:nvCxnSpPr>
        <p:spPr>
          <a:xfrm>
            <a:off x="3386287" y="3272421"/>
            <a:ext cx="0" cy="48321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aphic 5" descr="User with solid fill">
            <a:extLst>
              <a:ext uri="{FF2B5EF4-FFF2-40B4-BE49-F238E27FC236}">
                <a16:creationId xmlns:a16="http://schemas.microsoft.com/office/drawing/2014/main" id="{E6341E40-7AF7-9465-5C13-BD61D03E54A4}"/>
              </a:ext>
            </a:extLst>
          </p:cNvPr>
          <p:cNvGrpSpPr/>
          <p:nvPr/>
        </p:nvGrpSpPr>
        <p:grpSpPr>
          <a:xfrm>
            <a:off x="219730" y="1765302"/>
            <a:ext cx="484223" cy="533487"/>
            <a:chOff x="277777" y="2739255"/>
            <a:chExt cx="609600" cy="64770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25D8773-FBD1-E022-8086-6D9338F0F757}"/>
                </a:ext>
              </a:extLst>
            </p:cNvPr>
            <p:cNvSpPr/>
            <p:nvPr/>
          </p:nvSpPr>
          <p:spPr>
            <a:xfrm>
              <a:off x="430177" y="2739255"/>
              <a:ext cx="304800" cy="304800"/>
            </a:xfrm>
            <a:custGeom>
              <a:avLst/>
              <a:gdLst>
                <a:gd name="csX0" fmla="*/ 304800 w 304800"/>
                <a:gd name="csY0" fmla="*/ 152400 h 304800"/>
                <a:gd name="csX1" fmla="*/ 152400 w 304800"/>
                <a:gd name="csY1" fmla="*/ 304800 h 304800"/>
                <a:gd name="csX2" fmla="*/ 0 w 304800"/>
                <a:gd name="csY2" fmla="*/ 152400 h 304800"/>
                <a:gd name="csX3" fmla="*/ 152400 w 304800"/>
                <a:gd name="csY3" fmla="*/ 0 h 304800"/>
                <a:gd name="csX4" fmla="*/ 304800 w 304800"/>
                <a:gd name="csY4" fmla="*/ 152400 h 304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4800" h="304800">
                  <a:moveTo>
                    <a:pt x="304800" y="152400"/>
                  </a:move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ubicBezTo>
                    <a:pt x="236568" y="0"/>
                    <a:pt x="304800" y="68232"/>
                    <a:pt x="304800" y="1524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DE76033-563A-1F25-76C8-A99A34ADEF12}"/>
                </a:ext>
              </a:extLst>
            </p:cNvPr>
            <p:cNvSpPr/>
            <p:nvPr/>
          </p:nvSpPr>
          <p:spPr>
            <a:xfrm>
              <a:off x="277777" y="3082155"/>
              <a:ext cx="609600" cy="304800"/>
            </a:xfrm>
            <a:custGeom>
              <a:avLst/>
              <a:gdLst>
                <a:gd name="csX0" fmla="*/ 609600 w 609600"/>
                <a:gd name="csY0" fmla="*/ 304800 h 304800"/>
                <a:gd name="csX1" fmla="*/ 609600 w 609600"/>
                <a:gd name="csY1" fmla="*/ 152400 h 304800"/>
                <a:gd name="csX2" fmla="*/ 579120 w 609600"/>
                <a:gd name="csY2" fmla="*/ 91440 h 304800"/>
                <a:gd name="csX3" fmla="*/ 430530 w 609600"/>
                <a:gd name="csY3" fmla="*/ 19050 h 304800"/>
                <a:gd name="csX4" fmla="*/ 304800 w 609600"/>
                <a:gd name="csY4" fmla="*/ 0 h 304800"/>
                <a:gd name="csX5" fmla="*/ 179070 w 609600"/>
                <a:gd name="csY5" fmla="*/ 19050 h 304800"/>
                <a:gd name="csX6" fmla="*/ 30480 w 609600"/>
                <a:gd name="csY6" fmla="*/ 91440 h 304800"/>
                <a:gd name="csX7" fmla="*/ 0 w 609600"/>
                <a:gd name="csY7" fmla="*/ 152400 h 304800"/>
                <a:gd name="csX8" fmla="*/ 0 w 609600"/>
                <a:gd name="csY8" fmla="*/ 304800 h 304800"/>
                <a:gd name="csX9" fmla="*/ 609600 w 609600"/>
                <a:gd name="csY9" fmla="*/ 304800 h 304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09600" h="304800">
                  <a:moveTo>
                    <a:pt x="609600" y="304800"/>
                  </a:moveTo>
                  <a:lnTo>
                    <a:pt x="609600" y="152400"/>
                  </a:lnTo>
                  <a:cubicBezTo>
                    <a:pt x="609600" y="129540"/>
                    <a:pt x="598170" y="106680"/>
                    <a:pt x="579120" y="91440"/>
                  </a:cubicBezTo>
                  <a:cubicBezTo>
                    <a:pt x="537210" y="57150"/>
                    <a:pt x="483870" y="34290"/>
                    <a:pt x="430530" y="19050"/>
                  </a:cubicBezTo>
                  <a:cubicBezTo>
                    <a:pt x="392430" y="7620"/>
                    <a:pt x="350520" y="0"/>
                    <a:pt x="304800" y="0"/>
                  </a:cubicBezTo>
                  <a:cubicBezTo>
                    <a:pt x="262890" y="0"/>
                    <a:pt x="220980" y="7620"/>
                    <a:pt x="179070" y="19050"/>
                  </a:cubicBezTo>
                  <a:cubicBezTo>
                    <a:pt x="125730" y="34290"/>
                    <a:pt x="72390" y="60960"/>
                    <a:pt x="30480" y="91440"/>
                  </a:cubicBezTo>
                  <a:cubicBezTo>
                    <a:pt x="11430" y="106680"/>
                    <a:pt x="0" y="129540"/>
                    <a:pt x="0" y="152400"/>
                  </a:cubicBezTo>
                  <a:lnTo>
                    <a:pt x="0" y="304800"/>
                  </a:lnTo>
                  <a:lnTo>
                    <a:pt x="609600" y="3048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 sz="1800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F277A4-BDF9-36CF-E50E-230407EF8E3B}"/>
              </a:ext>
            </a:extLst>
          </p:cNvPr>
          <p:cNvSpPr/>
          <p:nvPr/>
        </p:nvSpPr>
        <p:spPr>
          <a:xfrm>
            <a:off x="2045987" y="2146706"/>
            <a:ext cx="1674532" cy="133367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Intent Ambiguity Detector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539AB-258C-1AAE-D6F7-990C91B9A684}"/>
              </a:ext>
            </a:extLst>
          </p:cNvPr>
          <p:cNvSpPr txBox="1"/>
          <p:nvPr/>
        </p:nvSpPr>
        <p:spPr>
          <a:xfrm>
            <a:off x="1622064" y="1505051"/>
            <a:ext cx="2522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dirty="0"/>
              <a:t>Stage 1: Intent Ambiguity Resolution</a:t>
            </a:r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7D17BCA0-3469-32B2-B067-2B0ADE56351D}"/>
              </a:ext>
            </a:extLst>
          </p:cNvPr>
          <p:cNvSpPr/>
          <p:nvPr/>
        </p:nvSpPr>
        <p:spPr>
          <a:xfrm>
            <a:off x="2152349" y="5034118"/>
            <a:ext cx="1789471" cy="1209367"/>
          </a:xfrm>
          <a:prstGeom prst="flowChartMagneticDisk">
            <a:avLst/>
          </a:prstGeom>
          <a:solidFill>
            <a:srgbClr val="54B7F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Ambiguity Knowledge Store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59C13198-D0D5-0F8B-94F0-33CF0AE5D1FA}"/>
              </a:ext>
            </a:extLst>
          </p:cNvPr>
          <p:cNvSpPr/>
          <p:nvPr/>
        </p:nvSpPr>
        <p:spPr>
          <a:xfrm>
            <a:off x="287503" y="2569069"/>
            <a:ext cx="898119" cy="494651"/>
          </a:xfrm>
          <a:prstGeom prst="wedgeRectCallout">
            <a:avLst>
              <a:gd name="adj1" fmla="val -35494"/>
              <a:gd name="adj2" fmla="val -98033"/>
            </a:avLst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NL user query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FA0DA9-D8A6-F235-FFE0-177AECD30443}"/>
              </a:ext>
            </a:extLst>
          </p:cNvPr>
          <p:cNvSpPr/>
          <p:nvPr/>
        </p:nvSpPr>
        <p:spPr>
          <a:xfrm>
            <a:off x="1795377" y="4398684"/>
            <a:ext cx="1288036" cy="4879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Clarification Options</a:t>
            </a:r>
          </a:p>
        </p:txBody>
      </p:sp>
      <p:grpSp>
        <p:nvGrpSpPr>
          <p:cNvPr id="23" name="Graphic 5" descr="User with solid fill">
            <a:extLst>
              <a:ext uri="{FF2B5EF4-FFF2-40B4-BE49-F238E27FC236}">
                <a16:creationId xmlns:a16="http://schemas.microsoft.com/office/drawing/2014/main" id="{F67B9DC2-7752-BE7C-4EEF-658A928CC1B2}"/>
              </a:ext>
            </a:extLst>
          </p:cNvPr>
          <p:cNvGrpSpPr/>
          <p:nvPr/>
        </p:nvGrpSpPr>
        <p:grpSpPr>
          <a:xfrm>
            <a:off x="127106" y="4520558"/>
            <a:ext cx="484223" cy="533487"/>
            <a:chOff x="277777" y="2739255"/>
            <a:chExt cx="609600" cy="64770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2C61915-B863-9BB0-FCCC-E12D2ED5261C}"/>
                </a:ext>
              </a:extLst>
            </p:cNvPr>
            <p:cNvSpPr/>
            <p:nvPr/>
          </p:nvSpPr>
          <p:spPr>
            <a:xfrm>
              <a:off x="430177" y="2739255"/>
              <a:ext cx="304800" cy="304800"/>
            </a:xfrm>
            <a:custGeom>
              <a:avLst/>
              <a:gdLst>
                <a:gd name="csX0" fmla="*/ 304800 w 304800"/>
                <a:gd name="csY0" fmla="*/ 152400 h 304800"/>
                <a:gd name="csX1" fmla="*/ 152400 w 304800"/>
                <a:gd name="csY1" fmla="*/ 304800 h 304800"/>
                <a:gd name="csX2" fmla="*/ 0 w 304800"/>
                <a:gd name="csY2" fmla="*/ 152400 h 304800"/>
                <a:gd name="csX3" fmla="*/ 152400 w 304800"/>
                <a:gd name="csY3" fmla="*/ 0 h 304800"/>
                <a:gd name="csX4" fmla="*/ 304800 w 304800"/>
                <a:gd name="csY4" fmla="*/ 152400 h 304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4800" h="304800">
                  <a:moveTo>
                    <a:pt x="304800" y="152400"/>
                  </a:move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ubicBezTo>
                    <a:pt x="236568" y="0"/>
                    <a:pt x="304800" y="68232"/>
                    <a:pt x="304800" y="1524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 sz="1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F73129B-3934-CEA9-6239-C3554DA4DDBF}"/>
                </a:ext>
              </a:extLst>
            </p:cNvPr>
            <p:cNvSpPr/>
            <p:nvPr/>
          </p:nvSpPr>
          <p:spPr>
            <a:xfrm>
              <a:off x="277777" y="3082155"/>
              <a:ext cx="609600" cy="304800"/>
            </a:xfrm>
            <a:custGeom>
              <a:avLst/>
              <a:gdLst>
                <a:gd name="csX0" fmla="*/ 609600 w 609600"/>
                <a:gd name="csY0" fmla="*/ 304800 h 304800"/>
                <a:gd name="csX1" fmla="*/ 609600 w 609600"/>
                <a:gd name="csY1" fmla="*/ 152400 h 304800"/>
                <a:gd name="csX2" fmla="*/ 579120 w 609600"/>
                <a:gd name="csY2" fmla="*/ 91440 h 304800"/>
                <a:gd name="csX3" fmla="*/ 430530 w 609600"/>
                <a:gd name="csY3" fmla="*/ 19050 h 304800"/>
                <a:gd name="csX4" fmla="*/ 304800 w 609600"/>
                <a:gd name="csY4" fmla="*/ 0 h 304800"/>
                <a:gd name="csX5" fmla="*/ 179070 w 609600"/>
                <a:gd name="csY5" fmla="*/ 19050 h 304800"/>
                <a:gd name="csX6" fmla="*/ 30480 w 609600"/>
                <a:gd name="csY6" fmla="*/ 91440 h 304800"/>
                <a:gd name="csX7" fmla="*/ 0 w 609600"/>
                <a:gd name="csY7" fmla="*/ 152400 h 304800"/>
                <a:gd name="csX8" fmla="*/ 0 w 609600"/>
                <a:gd name="csY8" fmla="*/ 304800 h 304800"/>
                <a:gd name="csX9" fmla="*/ 609600 w 609600"/>
                <a:gd name="csY9" fmla="*/ 304800 h 304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09600" h="304800">
                  <a:moveTo>
                    <a:pt x="609600" y="304800"/>
                  </a:moveTo>
                  <a:lnTo>
                    <a:pt x="609600" y="152400"/>
                  </a:lnTo>
                  <a:cubicBezTo>
                    <a:pt x="609600" y="129540"/>
                    <a:pt x="598170" y="106680"/>
                    <a:pt x="579120" y="91440"/>
                  </a:cubicBezTo>
                  <a:cubicBezTo>
                    <a:pt x="537210" y="57150"/>
                    <a:pt x="483870" y="34290"/>
                    <a:pt x="430530" y="19050"/>
                  </a:cubicBezTo>
                  <a:cubicBezTo>
                    <a:pt x="392430" y="7620"/>
                    <a:pt x="350520" y="0"/>
                    <a:pt x="304800" y="0"/>
                  </a:cubicBezTo>
                  <a:cubicBezTo>
                    <a:pt x="262890" y="0"/>
                    <a:pt x="220980" y="7620"/>
                    <a:pt x="179070" y="19050"/>
                  </a:cubicBezTo>
                  <a:cubicBezTo>
                    <a:pt x="125730" y="34290"/>
                    <a:pt x="72390" y="60960"/>
                    <a:pt x="30480" y="91440"/>
                  </a:cubicBezTo>
                  <a:cubicBezTo>
                    <a:pt x="11430" y="106680"/>
                    <a:pt x="0" y="129540"/>
                    <a:pt x="0" y="152400"/>
                  </a:cubicBezTo>
                  <a:lnTo>
                    <a:pt x="0" y="304800"/>
                  </a:lnTo>
                  <a:lnTo>
                    <a:pt x="609600" y="3048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 sz="1800"/>
            </a:p>
          </p:txBody>
        </p:sp>
      </p:grp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F9383AC2-8A29-FF32-3419-3ABBB7B644D4}"/>
              </a:ext>
            </a:extLst>
          </p:cNvPr>
          <p:cNvSpPr/>
          <p:nvPr/>
        </p:nvSpPr>
        <p:spPr>
          <a:xfrm>
            <a:off x="238344" y="3817588"/>
            <a:ext cx="1099499" cy="475429"/>
          </a:xfrm>
          <a:prstGeom prst="wedgeRectCallout">
            <a:avLst>
              <a:gd name="adj1" fmla="val -35494"/>
              <a:gd name="adj2" fmla="val 84770"/>
            </a:avLst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Option X /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Text Answer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CB25BD-F112-42BD-E2F0-D7B7CECB77D2}"/>
              </a:ext>
            </a:extLst>
          </p:cNvPr>
          <p:cNvGrpSpPr/>
          <p:nvPr/>
        </p:nvGrpSpPr>
        <p:grpSpPr>
          <a:xfrm>
            <a:off x="2784777" y="3755640"/>
            <a:ext cx="1203025" cy="428696"/>
            <a:chOff x="4615422" y="3456989"/>
            <a:chExt cx="1260510" cy="428696"/>
          </a:xfrm>
        </p:grpSpPr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20A710C4-E9F5-FB83-20ED-B2CA33A91AE4}"/>
                </a:ext>
              </a:extLst>
            </p:cNvPr>
            <p:cNvSpPr/>
            <p:nvPr/>
          </p:nvSpPr>
          <p:spPr>
            <a:xfrm>
              <a:off x="4615422" y="3456989"/>
              <a:ext cx="1260509" cy="21434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86D9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tx1"/>
                  </a:solidFill>
                </a:rPr>
                <a:t>Context Key</a:t>
              </a: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87234AE7-028E-4A3D-B7D1-9CAABBD5D98E}"/>
                </a:ext>
              </a:extLst>
            </p:cNvPr>
            <p:cNvSpPr/>
            <p:nvPr/>
          </p:nvSpPr>
          <p:spPr>
            <a:xfrm>
              <a:off x="4615423" y="3671337"/>
              <a:ext cx="1260509" cy="214348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/>
                <a:t>Ambiguity Key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B1F19B-1102-FB0C-87EA-A1B2AC92F709}"/>
              </a:ext>
            </a:extLst>
          </p:cNvPr>
          <p:cNvCxnSpPr>
            <a:cxnSpLocks/>
          </p:cNvCxnSpPr>
          <p:nvPr/>
        </p:nvCxnSpPr>
        <p:spPr>
          <a:xfrm>
            <a:off x="3386288" y="4184336"/>
            <a:ext cx="0" cy="118358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1EC5E2-E055-4076-6B6A-849AC09AB822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2439392" y="4886634"/>
            <a:ext cx="3" cy="415249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2B4289-457C-821F-653C-4174716BF4A1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11328" y="4642659"/>
            <a:ext cx="1184048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970DEF9-87FE-4B1F-CC2B-6F708373F853}"/>
              </a:ext>
            </a:extLst>
          </p:cNvPr>
          <p:cNvCxnSpPr>
            <a:cxnSpLocks/>
          </p:cNvCxnSpPr>
          <p:nvPr/>
        </p:nvCxnSpPr>
        <p:spPr>
          <a:xfrm>
            <a:off x="1239520" y="2816395"/>
            <a:ext cx="729669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00FD6F2-7674-0A29-D66A-2A05F93B2E99}"/>
              </a:ext>
            </a:extLst>
          </p:cNvPr>
          <p:cNvSpPr txBox="1"/>
          <p:nvPr/>
        </p:nvSpPr>
        <p:spPr>
          <a:xfrm rot="16200000">
            <a:off x="2923184" y="4413954"/>
            <a:ext cx="900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Embedding </a:t>
            </a:r>
          </a:p>
          <a:p>
            <a:pPr algn="ctr"/>
            <a:r>
              <a:rPr lang="en-IN" sz="1200" b="1" dirty="0"/>
              <a:t>Search</a:t>
            </a:r>
          </a:p>
        </p:txBody>
      </p:sp>
      <p:pic>
        <p:nvPicPr>
          <p:cNvPr id="1030" name="Picture 4">
            <a:extLst>
              <a:ext uri="{FF2B5EF4-FFF2-40B4-BE49-F238E27FC236}">
                <a16:creationId xmlns:a16="http://schemas.microsoft.com/office/drawing/2014/main" id="{CC06093D-2D59-B84F-37EE-23604A3A3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507" y="2238882"/>
            <a:ext cx="597899" cy="33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Connector: Elbow 1032">
            <a:extLst>
              <a:ext uri="{FF2B5EF4-FFF2-40B4-BE49-F238E27FC236}">
                <a16:creationId xmlns:a16="http://schemas.microsoft.com/office/drawing/2014/main" id="{88F0409C-7DC2-4A0C-8217-B360C61F0C2F}"/>
              </a:ext>
            </a:extLst>
          </p:cNvPr>
          <p:cNvCxnSpPr>
            <a:cxnSpLocks/>
          </p:cNvCxnSpPr>
          <p:nvPr/>
        </p:nvCxnSpPr>
        <p:spPr>
          <a:xfrm flipV="1">
            <a:off x="1398802" y="3489053"/>
            <a:ext cx="1299031" cy="566251"/>
          </a:xfrm>
          <a:prstGeom prst="bentConnector3">
            <a:avLst>
              <a:gd name="adj1" fmla="val 99955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: Elbow 1049">
            <a:extLst>
              <a:ext uri="{FF2B5EF4-FFF2-40B4-BE49-F238E27FC236}">
                <a16:creationId xmlns:a16="http://schemas.microsoft.com/office/drawing/2014/main" id="{C58D4A15-882C-3B96-017F-EEB7F5B0A9AE}"/>
              </a:ext>
            </a:extLst>
          </p:cNvPr>
          <p:cNvCxnSpPr>
            <a:cxnSpLocks/>
            <a:stCxn id="26" idx="2"/>
            <a:endCxn id="13" idx="2"/>
          </p:cNvCxnSpPr>
          <p:nvPr/>
        </p:nvCxnSpPr>
        <p:spPr>
          <a:xfrm rot="16200000" flipH="1">
            <a:off x="797328" y="4283782"/>
            <a:ext cx="1345784" cy="1364255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041A5C67-58EB-175C-B42F-3D9CA9C1D7F9}"/>
              </a:ext>
            </a:extLst>
          </p:cNvPr>
          <p:cNvSpPr txBox="1"/>
          <p:nvPr/>
        </p:nvSpPr>
        <p:spPr>
          <a:xfrm>
            <a:off x="536898" y="5211324"/>
            <a:ext cx="139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Knowledge </a:t>
            </a:r>
          </a:p>
          <a:p>
            <a:pPr algn="ctr"/>
            <a:r>
              <a:rPr lang="en-IN" sz="1200" b="1" dirty="0"/>
              <a:t>Update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F68B66AF-9306-A2B4-F45D-3DBE6BD962AE}"/>
              </a:ext>
            </a:extLst>
          </p:cNvPr>
          <p:cNvSpPr txBox="1"/>
          <p:nvPr/>
        </p:nvSpPr>
        <p:spPr>
          <a:xfrm>
            <a:off x="1398122" y="3808915"/>
            <a:ext cx="1582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7030A0"/>
                </a:solidFill>
              </a:rPr>
              <a:t>Iterative  Loop</a:t>
            </a:r>
          </a:p>
        </p:txBody>
      </p:sp>
      <p:sp>
        <p:nvSpPr>
          <p:cNvPr id="1069" name="Rectangle: Rounded Corners 1068">
            <a:extLst>
              <a:ext uri="{FF2B5EF4-FFF2-40B4-BE49-F238E27FC236}">
                <a16:creationId xmlns:a16="http://schemas.microsoft.com/office/drawing/2014/main" id="{0911243C-B690-C8F5-4D57-F4D9FFCDA38E}"/>
              </a:ext>
            </a:extLst>
          </p:cNvPr>
          <p:cNvSpPr/>
          <p:nvPr/>
        </p:nvSpPr>
        <p:spPr>
          <a:xfrm>
            <a:off x="4243718" y="1918003"/>
            <a:ext cx="2407535" cy="4305815"/>
          </a:xfrm>
          <a:prstGeom prst="roundRect">
            <a:avLst>
              <a:gd name="adj" fmla="val 6644"/>
            </a:avLst>
          </a:prstGeom>
          <a:solidFill>
            <a:srgbClr val="E5F3F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79F0BF75-E8CF-E4AD-7D04-1E08A6CF5415}"/>
              </a:ext>
            </a:extLst>
          </p:cNvPr>
          <p:cNvSpPr txBox="1"/>
          <p:nvPr/>
        </p:nvSpPr>
        <p:spPr>
          <a:xfrm>
            <a:off x="4186294" y="1931879"/>
            <a:ext cx="25223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dirty="0"/>
              <a:t>Stage 2: Query Analysis</a:t>
            </a:r>
          </a:p>
        </p:txBody>
      </p: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7D68F4E0-E729-8437-9D04-483FD01D7380}"/>
              </a:ext>
            </a:extLst>
          </p:cNvPr>
          <p:cNvCxnSpPr>
            <a:cxnSpLocks/>
          </p:cNvCxnSpPr>
          <p:nvPr/>
        </p:nvCxnSpPr>
        <p:spPr>
          <a:xfrm>
            <a:off x="3750997" y="2693533"/>
            <a:ext cx="658443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B306DC-8B05-A3BB-2358-CAF183D0C95E}"/>
              </a:ext>
            </a:extLst>
          </p:cNvPr>
          <p:cNvSpPr/>
          <p:nvPr/>
        </p:nvSpPr>
        <p:spPr>
          <a:xfrm>
            <a:off x="4453522" y="2323443"/>
            <a:ext cx="2006439" cy="7902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Query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Analyzer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50C908-D8DC-AB31-3AE2-05C85A984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785" y="2384838"/>
            <a:ext cx="597899" cy="33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03291F-A819-7FBF-55A3-86779A871556}"/>
              </a:ext>
            </a:extLst>
          </p:cNvPr>
          <p:cNvSpPr/>
          <p:nvPr/>
        </p:nvSpPr>
        <p:spPr>
          <a:xfrm>
            <a:off x="4864445" y="3190510"/>
            <a:ext cx="1607345" cy="400231"/>
          </a:xfrm>
          <a:prstGeom prst="roundRect">
            <a:avLst>
              <a:gd name="adj" fmla="val 28090"/>
            </a:avLst>
          </a:prstGeom>
          <a:solidFill>
            <a:srgbClr val="E4E4E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Intent Summary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D28EAB4-AB42-F9B0-DC32-DAB52CD55133}"/>
              </a:ext>
            </a:extLst>
          </p:cNvPr>
          <p:cNvSpPr/>
          <p:nvPr/>
        </p:nvSpPr>
        <p:spPr>
          <a:xfrm>
            <a:off x="4864445" y="3659951"/>
            <a:ext cx="1607345" cy="1293221"/>
          </a:xfrm>
          <a:prstGeom prst="roundRect">
            <a:avLst>
              <a:gd name="adj" fmla="val 9007"/>
            </a:avLst>
          </a:prstGeom>
          <a:solidFill>
            <a:srgbClr val="E4E4E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Query Classification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9A9E992-C1DD-9F62-AF1E-E49A88DDE1B8}"/>
              </a:ext>
            </a:extLst>
          </p:cNvPr>
          <p:cNvSpPr/>
          <p:nvPr/>
        </p:nvSpPr>
        <p:spPr>
          <a:xfrm>
            <a:off x="5060303" y="3947333"/>
            <a:ext cx="1215628" cy="268931"/>
          </a:xfrm>
          <a:prstGeom prst="roundRect">
            <a:avLst>
              <a:gd name="adj" fmla="val 50000"/>
            </a:avLst>
          </a:prstGeom>
          <a:solidFill>
            <a:srgbClr val="E4E4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Structured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C73456B-B07C-30C6-2A80-31BEF1085963}"/>
              </a:ext>
            </a:extLst>
          </p:cNvPr>
          <p:cNvSpPr/>
          <p:nvPr/>
        </p:nvSpPr>
        <p:spPr>
          <a:xfrm>
            <a:off x="5055839" y="4283856"/>
            <a:ext cx="1215628" cy="268931"/>
          </a:xfrm>
          <a:prstGeom prst="roundRect">
            <a:avLst>
              <a:gd name="adj" fmla="val 50000"/>
            </a:avLst>
          </a:prstGeom>
          <a:solidFill>
            <a:srgbClr val="E4E4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Hybrid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542623A-516E-33DE-D32B-2DB3052EAA14}"/>
              </a:ext>
            </a:extLst>
          </p:cNvPr>
          <p:cNvSpPr/>
          <p:nvPr/>
        </p:nvSpPr>
        <p:spPr>
          <a:xfrm>
            <a:off x="5055839" y="4621545"/>
            <a:ext cx="1215628" cy="268931"/>
          </a:xfrm>
          <a:prstGeom prst="roundRect">
            <a:avLst>
              <a:gd name="adj" fmla="val 50000"/>
            </a:avLst>
          </a:prstGeom>
          <a:solidFill>
            <a:srgbClr val="E4E4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Undefined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B378185-0EA2-249D-AA1B-363371E92411}"/>
              </a:ext>
            </a:extLst>
          </p:cNvPr>
          <p:cNvSpPr/>
          <p:nvPr/>
        </p:nvSpPr>
        <p:spPr>
          <a:xfrm>
            <a:off x="4859981" y="5031022"/>
            <a:ext cx="1607345" cy="1056900"/>
          </a:xfrm>
          <a:prstGeom prst="roundRect">
            <a:avLst>
              <a:gd name="adj" fmla="val 9007"/>
            </a:avLst>
          </a:prstGeom>
          <a:solidFill>
            <a:srgbClr val="FEB356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Value Ambiguities</a:t>
            </a:r>
          </a:p>
          <a:p>
            <a:r>
              <a:rPr lang="en-IN" sz="1200" dirty="0">
                <a:solidFill>
                  <a:schemeClr val="tx1"/>
                </a:solidFill>
              </a:rPr>
              <a:t>{</a:t>
            </a:r>
          </a:p>
          <a:p>
            <a:r>
              <a:rPr lang="en-IN" sz="1200" dirty="0">
                <a:solidFill>
                  <a:schemeClr val="tx1"/>
                </a:solidFill>
              </a:rPr>
              <a:t>Ambiguous terms : Candidate Columns</a:t>
            </a:r>
          </a:p>
          <a:p>
            <a:r>
              <a:rPr lang="en-IN" sz="1200" dirty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1027" name="Connector: Elbow 1026">
            <a:extLst>
              <a:ext uri="{FF2B5EF4-FFF2-40B4-BE49-F238E27FC236}">
                <a16:creationId xmlns:a16="http://schemas.microsoft.com/office/drawing/2014/main" id="{C250527B-3F61-0026-85CF-31EE1E0729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63392" y="4303950"/>
            <a:ext cx="2686861" cy="306316"/>
          </a:xfrm>
          <a:prstGeom prst="bentConnector3">
            <a:avLst>
              <a:gd name="adj1" fmla="val 9991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25C3DFB2-ECE2-F044-04B8-8A4CBD20567A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4553664" y="4306561"/>
            <a:ext cx="3107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26AC2E97-C863-0872-5B3D-0A536E49A9F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553664" y="3390624"/>
            <a:ext cx="3107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5ECB23-D823-8C92-386E-0444A704E67A}"/>
              </a:ext>
            </a:extLst>
          </p:cNvPr>
          <p:cNvSpPr/>
          <p:nvPr/>
        </p:nvSpPr>
        <p:spPr>
          <a:xfrm>
            <a:off x="6852847" y="4771609"/>
            <a:ext cx="2407535" cy="1766843"/>
          </a:xfrm>
          <a:prstGeom prst="roundRect">
            <a:avLst>
              <a:gd name="adj" fmla="val 6644"/>
            </a:avLst>
          </a:prstGeom>
          <a:solidFill>
            <a:srgbClr val="E5F3F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CB81E-FB51-23CD-328C-5B6B36BE3EC2}"/>
              </a:ext>
            </a:extLst>
          </p:cNvPr>
          <p:cNvSpPr txBox="1"/>
          <p:nvPr/>
        </p:nvSpPr>
        <p:spPr>
          <a:xfrm>
            <a:off x="6795424" y="6212495"/>
            <a:ext cx="25223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dirty="0"/>
              <a:t>Stage 3: Candidate Retrieval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FADFE97-C989-4E5C-EB1E-E1DA1F5A8C8F}"/>
              </a:ext>
            </a:extLst>
          </p:cNvPr>
          <p:cNvCxnSpPr>
            <a:cxnSpLocks/>
          </p:cNvCxnSpPr>
          <p:nvPr/>
        </p:nvCxnSpPr>
        <p:spPr>
          <a:xfrm flipV="1">
            <a:off x="6516486" y="5783173"/>
            <a:ext cx="439639" cy="2579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F344AEE-777D-2E56-1BAD-38765661513D}"/>
              </a:ext>
            </a:extLst>
          </p:cNvPr>
          <p:cNvSpPr/>
          <p:nvPr/>
        </p:nvSpPr>
        <p:spPr>
          <a:xfrm>
            <a:off x="7054445" y="5390633"/>
            <a:ext cx="2006439" cy="7902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Embedding 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</a:rPr>
              <a:t> Based Retriever</a:t>
            </a:r>
          </a:p>
        </p:txBody>
      </p:sp>
      <p:pic>
        <p:nvPicPr>
          <p:cNvPr id="1032" name="Picture 8" descr="Magnifying glass - Free education icons">
            <a:extLst>
              <a:ext uri="{FF2B5EF4-FFF2-40B4-BE49-F238E27FC236}">
                <a16:creationId xmlns:a16="http://schemas.microsoft.com/office/drawing/2014/main" id="{F51E794C-09D6-6EB1-8DE2-08F7F5C4A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821" y="5408433"/>
            <a:ext cx="284219" cy="28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8" descr="Magnifying glass - Free education icons">
            <a:extLst>
              <a:ext uri="{FF2B5EF4-FFF2-40B4-BE49-F238E27FC236}">
                <a16:creationId xmlns:a16="http://schemas.microsoft.com/office/drawing/2014/main" id="{619E3761-A7F0-8BF1-8A8D-ADFF854E6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551" y="5485989"/>
            <a:ext cx="284219" cy="28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0EDCCF4-A56A-A58F-5472-1A69E7784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959" y="4956337"/>
            <a:ext cx="2037309" cy="26058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B045896B-0A3E-353B-D01B-BC8F62AFCB3F}"/>
              </a:ext>
            </a:extLst>
          </p:cNvPr>
          <p:cNvSpPr/>
          <p:nvPr/>
        </p:nvSpPr>
        <p:spPr>
          <a:xfrm>
            <a:off x="6862850" y="1556560"/>
            <a:ext cx="2407535" cy="2947817"/>
          </a:xfrm>
          <a:prstGeom prst="roundRect">
            <a:avLst>
              <a:gd name="adj" fmla="val 6644"/>
            </a:avLst>
          </a:prstGeom>
          <a:solidFill>
            <a:srgbClr val="E5F3F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C27BE6E6-99DD-354D-C958-0C38F0E64BC9}"/>
              </a:ext>
            </a:extLst>
          </p:cNvPr>
          <p:cNvSpPr txBox="1"/>
          <p:nvPr/>
        </p:nvSpPr>
        <p:spPr>
          <a:xfrm>
            <a:off x="6748003" y="1556559"/>
            <a:ext cx="2522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dirty="0"/>
              <a:t>Stage 4: Query Decomposition</a:t>
            </a:r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06493E92-5153-9BDE-376A-46473407C5E8}"/>
              </a:ext>
            </a:extLst>
          </p:cNvPr>
          <p:cNvSpPr/>
          <p:nvPr/>
        </p:nvSpPr>
        <p:spPr>
          <a:xfrm>
            <a:off x="7054445" y="2127533"/>
            <a:ext cx="2006439" cy="7902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Query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Decomposer</a:t>
            </a:r>
          </a:p>
        </p:txBody>
      </p:sp>
      <p:pic>
        <p:nvPicPr>
          <p:cNvPr id="1052" name="Picture 4">
            <a:extLst>
              <a:ext uri="{FF2B5EF4-FFF2-40B4-BE49-F238E27FC236}">
                <a16:creationId xmlns:a16="http://schemas.microsoft.com/office/drawing/2014/main" id="{FDAD354B-8CFB-6F64-BCBE-D6B028893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383" y="2202326"/>
            <a:ext cx="597899" cy="33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B17BFBD5-3972-DEDF-E58C-73116BF53F48}"/>
              </a:ext>
            </a:extLst>
          </p:cNvPr>
          <p:cNvCxnSpPr>
            <a:stCxn id="50" idx="0"/>
            <a:endCxn id="63" idx="2"/>
          </p:cNvCxnSpPr>
          <p:nvPr/>
        </p:nvCxnSpPr>
        <p:spPr>
          <a:xfrm flipH="1" flipV="1">
            <a:off x="8056613" y="5216925"/>
            <a:ext cx="1051" cy="173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: Elbow 1070">
            <a:extLst>
              <a:ext uri="{FF2B5EF4-FFF2-40B4-BE49-F238E27FC236}">
                <a16:creationId xmlns:a16="http://schemas.microsoft.com/office/drawing/2014/main" id="{8ECB0BED-2818-255E-3D37-A72D628E11F9}"/>
              </a:ext>
            </a:extLst>
          </p:cNvPr>
          <p:cNvCxnSpPr>
            <a:cxnSpLocks/>
            <a:stCxn id="42" idx="3"/>
            <a:endCxn id="1051" idx="1"/>
          </p:cNvCxnSpPr>
          <p:nvPr/>
        </p:nvCxnSpPr>
        <p:spPr>
          <a:xfrm flipV="1">
            <a:off x="6471790" y="2522651"/>
            <a:ext cx="582655" cy="178391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3B43BC57-9900-5FD4-1B6E-24315EBCB4E5}"/>
              </a:ext>
            </a:extLst>
          </p:cNvPr>
          <p:cNvCxnSpPr>
            <a:cxnSpLocks/>
          </p:cNvCxnSpPr>
          <p:nvPr/>
        </p:nvCxnSpPr>
        <p:spPr>
          <a:xfrm>
            <a:off x="6477485" y="3390624"/>
            <a:ext cx="2689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3" name="Rectangle: Rounded Corners 1082">
            <a:extLst>
              <a:ext uri="{FF2B5EF4-FFF2-40B4-BE49-F238E27FC236}">
                <a16:creationId xmlns:a16="http://schemas.microsoft.com/office/drawing/2014/main" id="{7B077FDE-7EA4-FCA5-AAD0-2F2808BFA9EF}"/>
              </a:ext>
            </a:extLst>
          </p:cNvPr>
          <p:cNvSpPr/>
          <p:nvPr/>
        </p:nvSpPr>
        <p:spPr>
          <a:xfrm>
            <a:off x="7512697" y="2987873"/>
            <a:ext cx="1607345" cy="692971"/>
          </a:xfrm>
          <a:prstGeom prst="roundRect">
            <a:avLst>
              <a:gd name="adj" fmla="val 17094"/>
            </a:avLst>
          </a:prstGeom>
          <a:solidFill>
            <a:srgbClr val="E4E4E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Grounded SQL 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</a:rPr>
              <a:t>Sub-Query </a:t>
            </a:r>
          </a:p>
        </p:txBody>
      </p:sp>
      <p:cxnSp>
        <p:nvCxnSpPr>
          <p:cNvPr id="1087" name="Connector: Elbow 1086">
            <a:extLst>
              <a:ext uri="{FF2B5EF4-FFF2-40B4-BE49-F238E27FC236}">
                <a16:creationId xmlns:a16="http://schemas.microsoft.com/office/drawing/2014/main" id="{6BD4EB31-73EA-A497-2878-1F6D75D408BB}"/>
              </a:ext>
            </a:extLst>
          </p:cNvPr>
          <p:cNvCxnSpPr>
            <a:cxnSpLocks/>
            <a:endCxn id="2076" idx="1"/>
          </p:cNvCxnSpPr>
          <p:nvPr/>
        </p:nvCxnSpPr>
        <p:spPr>
          <a:xfrm rot="16200000" flipH="1">
            <a:off x="6812502" y="3403220"/>
            <a:ext cx="1188439" cy="21195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Connector: Elbow 2054">
            <a:extLst>
              <a:ext uri="{FF2B5EF4-FFF2-40B4-BE49-F238E27FC236}">
                <a16:creationId xmlns:a16="http://schemas.microsoft.com/office/drawing/2014/main" id="{6CD008BD-5ABD-7FF7-9FAC-0982B00899EC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V="1">
            <a:off x="6562388" y="3462113"/>
            <a:ext cx="2038568" cy="94988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Rectangle: Rounded Corners 2075">
            <a:extLst>
              <a:ext uri="{FF2B5EF4-FFF2-40B4-BE49-F238E27FC236}">
                <a16:creationId xmlns:a16="http://schemas.microsoft.com/office/drawing/2014/main" id="{7A97E193-F8D8-BA68-7025-389C42ADB057}"/>
              </a:ext>
            </a:extLst>
          </p:cNvPr>
          <p:cNvSpPr/>
          <p:nvPr/>
        </p:nvSpPr>
        <p:spPr>
          <a:xfrm>
            <a:off x="7512697" y="3777059"/>
            <a:ext cx="1607345" cy="652715"/>
          </a:xfrm>
          <a:prstGeom prst="roundRect">
            <a:avLst>
              <a:gd name="adj" fmla="val 13409"/>
            </a:avLst>
          </a:prstGeom>
          <a:solidFill>
            <a:srgbClr val="E4E4E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Natural Language Sub-Query for Unstructured Intent</a:t>
            </a:r>
          </a:p>
        </p:txBody>
      </p:sp>
      <p:cxnSp>
        <p:nvCxnSpPr>
          <p:cNvPr id="2081" name="Straight Connector 2080">
            <a:extLst>
              <a:ext uri="{FF2B5EF4-FFF2-40B4-BE49-F238E27FC236}">
                <a16:creationId xmlns:a16="http://schemas.microsoft.com/office/drawing/2014/main" id="{654345BB-E9E9-A229-A15C-5773DB028227}"/>
              </a:ext>
            </a:extLst>
          </p:cNvPr>
          <p:cNvCxnSpPr>
            <a:cxnSpLocks/>
            <a:endCxn id="1083" idx="1"/>
          </p:cNvCxnSpPr>
          <p:nvPr/>
        </p:nvCxnSpPr>
        <p:spPr>
          <a:xfrm>
            <a:off x="7300744" y="3334359"/>
            <a:ext cx="2119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9" name="Rectangle: Rounded Corners 2108">
            <a:extLst>
              <a:ext uri="{FF2B5EF4-FFF2-40B4-BE49-F238E27FC236}">
                <a16:creationId xmlns:a16="http://schemas.microsoft.com/office/drawing/2014/main" id="{1466957B-F4C5-86C4-DDE9-AC782999D992}"/>
              </a:ext>
            </a:extLst>
          </p:cNvPr>
          <p:cNvSpPr/>
          <p:nvPr/>
        </p:nvSpPr>
        <p:spPr>
          <a:xfrm>
            <a:off x="9549671" y="1173463"/>
            <a:ext cx="2254544" cy="2609500"/>
          </a:xfrm>
          <a:prstGeom prst="roundRect">
            <a:avLst>
              <a:gd name="adj" fmla="val 6644"/>
            </a:avLst>
          </a:prstGeom>
          <a:solidFill>
            <a:srgbClr val="E5F3F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2110" name="TextBox 2109">
            <a:extLst>
              <a:ext uri="{FF2B5EF4-FFF2-40B4-BE49-F238E27FC236}">
                <a16:creationId xmlns:a16="http://schemas.microsoft.com/office/drawing/2014/main" id="{4809DB50-8FC0-41F2-4EEF-9904D3CE5292}"/>
              </a:ext>
            </a:extLst>
          </p:cNvPr>
          <p:cNvSpPr txBox="1"/>
          <p:nvPr/>
        </p:nvSpPr>
        <p:spPr>
          <a:xfrm>
            <a:off x="9431276" y="1173463"/>
            <a:ext cx="25223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dirty="0"/>
              <a:t>Stage 5: SQL Executor</a:t>
            </a:r>
          </a:p>
        </p:txBody>
      </p:sp>
      <p:pic>
        <p:nvPicPr>
          <p:cNvPr id="2117" name="Picture 6" descr="Postgresql original wordmark logo - free Icon PNG, SVG">
            <a:extLst>
              <a:ext uri="{FF2B5EF4-FFF2-40B4-BE49-F238E27FC236}">
                <a16:creationId xmlns:a16="http://schemas.microsoft.com/office/drawing/2014/main" id="{79B1D77B-C628-6CA6-A08B-2FE31E8FA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573" y="1652810"/>
            <a:ext cx="1348739" cy="949449"/>
          </a:xfrm>
          <a:prstGeom prst="rect">
            <a:avLst/>
          </a:prstGeom>
          <a:solidFill>
            <a:srgbClr val="C5E0B4"/>
          </a:solidFill>
        </p:spPr>
      </p:pic>
      <p:cxnSp>
        <p:nvCxnSpPr>
          <p:cNvPr id="2119" name="Connector: Elbow 2118">
            <a:extLst>
              <a:ext uri="{FF2B5EF4-FFF2-40B4-BE49-F238E27FC236}">
                <a16:creationId xmlns:a16="http://schemas.microsoft.com/office/drawing/2014/main" id="{998BCBCE-03B9-23C7-D0AD-7D5B6E33253A}"/>
              </a:ext>
            </a:extLst>
          </p:cNvPr>
          <p:cNvCxnSpPr>
            <a:cxnSpLocks/>
            <a:stCxn id="1083" idx="3"/>
            <a:endCxn id="2117" idx="1"/>
          </p:cNvCxnSpPr>
          <p:nvPr/>
        </p:nvCxnSpPr>
        <p:spPr>
          <a:xfrm flipV="1">
            <a:off x="9120041" y="2127536"/>
            <a:ext cx="882531" cy="12068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21" name="Picture 10" descr="25 Actionable Tips for Excel Tables - Excel Dashboard School">
            <a:extLst>
              <a:ext uri="{FF2B5EF4-FFF2-40B4-BE49-F238E27FC236}">
                <a16:creationId xmlns:a16="http://schemas.microsoft.com/office/drawing/2014/main" id="{D584F390-96AE-117A-CC01-FBE739737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725" y="2873133"/>
            <a:ext cx="1368433" cy="63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23" name="Straight Connector 2122">
            <a:extLst>
              <a:ext uri="{FF2B5EF4-FFF2-40B4-BE49-F238E27FC236}">
                <a16:creationId xmlns:a16="http://schemas.microsoft.com/office/drawing/2014/main" id="{EDFA4F0C-A210-0C30-C8BD-45DAA208BD65}"/>
              </a:ext>
            </a:extLst>
          </p:cNvPr>
          <p:cNvCxnSpPr>
            <a:cxnSpLocks/>
            <a:stCxn id="2117" idx="2"/>
            <a:endCxn id="2121" idx="0"/>
          </p:cNvCxnSpPr>
          <p:nvPr/>
        </p:nvCxnSpPr>
        <p:spPr>
          <a:xfrm flipH="1">
            <a:off x="10676942" y="2602257"/>
            <a:ext cx="1" cy="27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1" name="Rectangle: Rounded Corners 2130">
            <a:extLst>
              <a:ext uri="{FF2B5EF4-FFF2-40B4-BE49-F238E27FC236}">
                <a16:creationId xmlns:a16="http://schemas.microsoft.com/office/drawing/2014/main" id="{6D195B17-5AFC-47E7-3241-AB39A29464DA}"/>
              </a:ext>
            </a:extLst>
          </p:cNvPr>
          <p:cNvSpPr/>
          <p:nvPr/>
        </p:nvSpPr>
        <p:spPr>
          <a:xfrm>
            <a:off x="9545356" y="3997134"/>
            <a:ext cx="2254544" cy="1255943"/>
          </a:xfrm>
          <a:prstGeom prst="roundRect">
            <a:avLst>
              <a:gd name="adj" fmla="val 6644"/>
            </a:avLst>
          </a:prstGeom>
          <a:solidFill>
            <a:srgbClr val="E5F3F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2132" name="TextBox 2131">
            <a:extLst>
              <a:ext uri="{FF2B5EF4-FFF2-40B4-BE49-F238E27FC236}">
                <a16:creationId xmlns:a16="http://schemas.microsoft.com/office/drawing/2014/main" id="{96247F50-5FFB-AA6B-2236-637CF652162D}"/>
              </a:ext>
            </a:extLst>
          </p:cNvPr>
          <p:cNvSpPr txBox="1"/>
          <p:nvPr/>
        </p:nvSpPr>
        <p:spPr>
          <a:xfrm>
            <a:off x="9411438" y="3997132"/>
            <a:ext cx="25223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dirty="0"/>
              <a:t>Stage 6: LLM Executor</a:t>
            </a:r>
          </a:p>
        </p:txBody>
      </p:sp>
      <p:sp>
        <p:nvSpPr>
          <p:cNvPr id="2137" name="Rectangle: Rounded Corners 2136">
            <a:extLst>
              <a:ext uri="{FF2B5EF4-FFF2-40B4-BE49-F238E27FC236}">
                <a16:creationId xmlns:a16="http://schemas.microsoft.com/office/drawing/2014/main" id="{82ECEE5B-267C-19DF-E436-6CF34D8C53A3}"/>
              </a:ext>
            </a:extLst>
          </p:cNvPr>
          <p:cNvSpPr/>
          <p:nvPr/>
        </p:nvSpPr>
        <p:spPr>
          <a:xfrm>
            <a:off x="9685382" y="4337295"/>
            <a:ext cx="2006439" cy="7902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Black Box / 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</a:rPr>
              <a:t>Fine-Tuned LLM</a:t>
            </a:r>
          </a:p>
        </p:txBody>
      </p:sp>
      <p:pic>
        <p:nvPicPr>
          <p:cNvPr id="2138" name="Picture 4">
            <a:extLst>
              <a:ext uri="{FF2B5EF4-FFF2-40B4-BE49-F238E27FC236}">
                <a16:creationId xmlns:a16="http://schemas.microsoft.com/office/drawing/2014/main" id="{C75D1465-1949-F55F-7290-0493290C9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260" y="4384627"/>
            <a:ext cx="597899" cy="33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43" name="TextBox 2142">
            <a:extLst>
              <a:ext uri="{FF2B5EF4-FFF2-40B4-BE49-F238E27FC236}">
                <a16:creationId xmlns:a16="http://schemas.microsoft.com/office/drawing/2014/main" id="{7883D2E0-15B4-A6F9-4DEE-38E014A180FF}"/>
              </a:ext>
            </a:extLst>
          </p:cNvPr>
          <p:cNvSpPr txBox="1"/>
          <p:nvPr/>
        </p:nvSpPr>
        <p:spPr>
          <a:xfrm>
            <a:off x="9739359" y="3464722"/>
            <a:ext cx="1866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Structured Tabular Output</a:t>
            </a:r>
          </a:p>
        </p:txBody>
      </p:sp>
      <p:cxnSp>
        <p:nvCxnSpPr>
          <p:cNvPr id="2145" name="Straight Arrow Connector 2144">
            <a:extLst>
              <a:ext uri="{FF2B5EF4-FFF2-40B4-BE49-F238E27FC236}">
                <a16:creationId xmlns:a16="http://schemas.microsoft.com/office/drawing/2014/main" id="{5639C44B-26B5-9098-2B3E-5A48EB494163}"/>
              </a:ext>
            </a:extLst>
          </p:cNvPr>
          <p:cNvCxnSpPr>
            <a:cxnSpLocks/>
            <a:stCxn id="2143" idx="2"/>
            <a:endCxn id="2132" idx="0"/>
          </p:cNvCxnSpPr>
          <p:nvPr/>
        </p:nvCxnSpPr>
        <p:spPr>
          <a:xfrm>
            <a:off x="10672629" y="3741721"/>
            <a:ext cx="0" cy="255411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0" name="Connector: Elbow 2149">
            <a:extLst>
              <a:ext uri="{FF2B5EF4-FFF2-40B4-BE49-F238E27FC236}">
                <a16:creationId xmlns:a16="http://schemas.microsoft.com/office/drawing/2014/main" id="{ED1EC1D5-FB1A-27A4-927B-6BA6CC5ECA47}"/>
              </a:ext>
            </a:extLst>
          </p:cNvPr>
          <p:cNvCxnSpPr>
            <a:cxnSpLocks/>
            <a:stCxn id="2076" idx="3"/>
            <a:endCxn id="2137" idx="1"/>
          </p:cNvCxnSpPr>
          <p:nvPr/>
        </p:nvCxnSpPr>
        <p:spPr>
          <a:xfrm>
            <a:off x="9120041" y="4103417"/>
            <a:ext cx="565339" cy="6289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7" name="Rectangle: Diagonal Corners Rounded 2156">
            <a:extLst>
              <a:ext uri="{FF2B5EF4-FFF2-40B4-BE49-F238E27FC236}">
                <a16:creationId xmlns:a16="http://schemas.microsoft.com/office/drawing/2014/main" id="{8436CDB7-F047-48BC-B6A1-FE32CDF99D91}"/>
              </a:ext>
            </a:extLst>
          </p:cNvPr>
          <p:cNvSpPr/>
          <p:nvPr/>
        </p:nvSpPr>
        <p:spPr>
          <a:xfrm>
            <a:off x="9561327" y="5443992"/>
            <a:ext cx="2254544" cy="1053645"/>
          </a:xfrm>
          <a:prstGeom prst="round2DiagRect">
            <a:avLst>
              <a:gd name="adj1" fmla="val 31541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solidFill>
                  <a:schemeClr val="tx1"/>
                </a:solidFill>
              </a:rPr>
              <a:t>Final Integrated Markdown Response</a:t>
            </a:r>
          </a:p>
        </p:txBody>
      </p:sp>
      <p:cxnSp>
        <p:nvCxnSpPr>
          <p:cNvPr id="2160" name="Straight Arrow Connector 2159">
            <a:extLst>
              <a:ext uri="{FF2B5EF4-FFF2-40B4-BE49-F238E27FC236}">
                <a16:creationId xmlns:a16="http://schemas.microsoft.com/office/drawing/2014/main" id="{C1A48BB3-EBF7-A2E9-E596-C5BBC41830AE}"/>
              </a:ext>
            </a:extLst>
          </p:cNvPr>
          <p:cNvCxnSpPr>
            <a:cxnSpLocks/>
            <a:stCxn id="2137" idx="2"/>
            <a:endCxn id="2157" idx="3"/>
          </p:cNvCxnSpPr>
          <p:nvPr/>
        </p:nvCxnSpPr>
        <p:spPr>
          <a:xfrm flipH="1">
            <a:off x="10688601" y="5127530"/>
            <a:ext cx="1" cy="316463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6" name="Picture 12" descr="Free Database Diagrams SVG, PNG Icon, Symbol. Download Image.">
            <a:extLst>
              <a:ext uri="{FF2B5EF4-FFF2-40B4-BE49-F238E27FC236}">
                <a16:creationId xmlns:a16="http://schemas.microsoft.com/office/drawing/2014/main" id="{9845F906-FFDD-E651-5894-7FE0B5158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42"/>
          <a:stretch>
            <a:fillRect/>
          </a:stretch>
        </p:blipFill>
        <p:spPr bwMode="auto">
          <a:xfrm>
            <a:off x="3246794" y="2208975"/>
            <a:ext cx="379581" cy="33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7" name="Picture 12" descr="Free Database Diagrams SVG, PNG Icon, Symbol. Download Image.">
            <a:extLst>
              <a:ext uri="{FF2B5EF4-FFF2-40B4-BE49-F238E27FC236}">
                <a16:creationId xmlns:a16="http://schemas.microsoft.com/office/drawing/2014/main" id="{0DC32048-3528-7B85-093D-B5311A152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42"/>
          <a:stretch>
            <a:fillRect/>
          </a:stretch>
        </p:blipFill>
        <p:spPr bwMode="auto">
          <a:xfrm>
            <a:off x="5995458" y="2360696"/>
            <a:ext cx="379581" cy="33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8" name="Picture 12" descr="Free Database Diagrams SVG, PNG Icon, Symbol. Download Image.">
            <a:extLst>
              <a:ext uri="{FF2B5EF4-FFF2-40B4-BE49-F238E27FC236}">
                <a16:creationId xmlns:a16="http://schemas.microsoft.com/office/drawing/2014/main" id="{DAED8B2B-E702-F3DA-9166-7D3C2A7A1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42"/>
          <a:stretch>
            <a:fillRect/>
          </a:stretch>
        </p:blipFill>
        <p:spPr bwMode="auto">
          <a:xfrm>
            <a:off x="8611176" y="2166312"/>
            <a:ext cx="379581" cy="33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1ED02599-14DB-AA64-9091-B04B78CEF2EB}"/>
              </a:ext>
            </a:extLst>
          </p:cNvPr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7451530-D6B7-B316-7C89-EF63A9246404}"/>
              </a:ext>
            </a:extLst>
          </p:cNvPr>
          <p:cNvSpPr/>
          <p:nvPr/>
        </p:nvSpPr>
        <p:spPr>
          <a:xfrm>
            <a:off x="487680" y="0"/>
            <a:ext cx="11216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UniQuery Framework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551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Stages 1–3: Ambiguity Resolution &amp; Value Grounding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94816"/>
            <a:ext cx="11460480" cy="585216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94816"/>
            <a:ext cx="1109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E4A"/>
                </a:solidFill>
              </a:rPr>
              <a:t>Running Example — Q1:  </a:t>
            </a:r>
            <a:r>
              <a:rPr lang="en-US" sz="1467" i="1" dirty="0">
                <a:solidFill>
                  <a:srgbClr val="1A2E4A"/>
                </a:solidFill>
              </a:rPr>
              <a:t>"Give all the best performing cosmetics products from environmentally friendly brands"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365760" y="2315155"/>
            <a:ext cx="5547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1A2E4A"/>
                </a:solidFill>
              </a:rPr>
              <a:t>Stage 1 · Intent Ambiguity Resolution</a:t>
            </a:r>
            <a:endParaRPr lang="en-US" sz="1533" dirty="0"/>
          </a:p>
        </p:txBody>
      </p:sp>
      <p:sp>
        <p:nvSpPr>
          <p:cNvPr id="19" name="Shape 17"/>
          <p:cNvSpPr/>
          <p:nvPr/>
        </p:nvSpPr>
        <p:spPr>
          <a:xfrm>
            <a:off x="6217920" y="1950720"/>
            <a:ext cx="0" cy="4511040"/>
          </a:xfrm>
          <a:prstGeom prst="line">
            <a:avLst/>
          </a:prstGeom>
          <a:noFill/>
          <a:ln w="12700">
            <a:solidFill>
              <a:srgbClr val="E0E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760" y="1950720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2A7F7F"/>
                </a:solidFill>
              </a:rPr>
              <a:t>Stage 2 · Query Analysis</a:t>
            </a:r>
            <a:endParaRPr lang="en-US" sz="1533" dirty="0"/>
          </a:p>
        </p:txBody>
      </p:sp>
      <p:sp>
        <p:nvSpPr>
          <p:cNvPr id="21" name="Shape 19"/>
          <p:cNvSpPr/>
          <p:nvPr/>
        </p:nvSpPr>
        <p:spPr>
          <a:xfrm>
            <a:off x="6461760" y="2377440"/>
            <a:ext cx="5364480" cy="56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4912" y="2450592"/>
            <a:ext cx="316992" cy="316992"/>
          </a:xfrm>
          <a:prstGeom prst="ellipse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3824" y="240182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A7F7F"/>
                </a:solidFill>
              </a:rPr>
              <a:t>Structured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973824" y="2657856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A5568"/>
                </a:solidFill>
              </a:rPr>
              <a:t>"Best" = Sales Revenue  →  pure SQL aggregation over DB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6461760" y="3048000"/>
            <a:ext cx="5364480" cy="56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4912" y="3121152"/>
            <a:ext cx="316992" cy="31699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3824" y="307238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A2E4A"/>
                </a:solidFill>
              </a:rPr>
              <a:t>Hybrid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973824" y="3328416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A5568"/>
                </a:solidFill>
              </a:rPr>
              <a:t>"Best" = Customer Reviews  →  LLM needed for text data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6461760" y="3718560"/>
            <a:ext cx="5364480" cy="56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4912" y="3791712"/>
            <a:ext cx="316992" cy="3169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3824" y="374294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CA3AF"/>
                </a:solidFill>
              </a:rPr>
              <a:t>Undefined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6973824" y="3998976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A5568"/>
                </a:solidFill>
              </a:rPr>
              <a:t>No structured component extractable from DB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6539064" y="4991211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2A7F7F"/>
                </a:solidFill>
              </a:rPr>
              <a:t>Stage 3 · Candidate Value Retrieval</a:t>
            </a:r>
            <a:endParaRPr lang="en-US" sz="1533" dirty="0"/>
          </a:p>
        </p:txBody>
      </p:sp>
      <p:sp>
        <p:nvSpPr>
          <p:cNvPr id="34" name="Shape 32"/>
          <p:cNvSpPr/>
          <p:nvPr/>
        </p:nvSpPr>
        <p:spPr>
          <a:xfrm>
            <a:off x="6528020" y="5393546"/>
            <a:ext cx="5209874" cy="1182095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8813" y="5531810"/>
            <a:ext cx="5020807" cy="92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 dirty="0">
                <a:solidFill>
                  <a:srgbClr val="1A2E4A"/>
                </a:solidFill>
              </a:rPr>
              <a:t>Term: </a:t>
            </a:r>
            <a:r>
              <a:rPr lang="en-US" sz="1333" dirty="0">
                <a:solidFill>
                  <a:srgbClr val="1A2E4A"/>
                </a:solidFill>
              </a:rPr>
              <a:t>"cosmetics"  →  embedding similarity search
</a:t>
            </a:r>
            <a:r>
              <a:rPr lang="en-US" sz="1333" b="1" dirty="0">
                <a:solidFill>
                  <a:srgbClr val="2A7F7F"/>
                </a:solidFill>
              </a:rPr>
              <a:t>category: </a:t>
            </a:r>
            <a:r>
              <a:rPr lang="en-US" sz="1333" dirty="0">
                <a:solidFill>
                  <a:srgbClr val="1A2E4A"/>
                </a:solidFill>
              </a:rPr>
              <a:t>Beauty &amp; Hygiene, Household …
</a:t>
            </a:r>
            <a:r>
              <a:rPr lang="en-US" sz="1333" b="1" dirty="0">
                <a:solidFill>
                  <a:srgbClr val="2A7F7F"/>
                </a:solidFill>
              </a:rPr>
              <a:t>sub_category: </a:t>
            </a:r>
            <a:r>
              <a:rPr lang="en-US" sz="1333" dirty="0">
                <a:solidFill>
                  <a:srgbClr val="1A2E4A"/>
                </a:solidFill>
              </a:rPr>
              <a:t>makeup, skin care, deos …
</a:t>
            </a:r>
            <a:r>
              <a:rPr lang="en-US" sz="1333" b="1" dirty="0">
                <a:solidFill>
                  <a:srgbClr val="2A7F7F"/>
                </a:solidFill>
              </a:rPr>
              <a:t>sub_sub_category: </a:t>
            </a:r>
            <a:r>
              <a:rPr lang="en-US" sz="1333" dirty="0">
                <a:solidFill>
                  <a:srgbClr val="1A2E4A"/>
                </a:solidFill>
              </a:rPr>
              <a:t>face care, creams, lotions …</a:t>
            </a:r>
            <a:endParaRPr lang="en-US" sz="1333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A1AF16-75E4-9A1C-537E-E85349E1C8CE}"/>
              </a:ext>
            </a:extLst>
          </p:cNvPr>
          <p:cNvGrpSpPr/>
          <p:nvPr/>
        </p:nvGrpSpPr>
        <p:grpSpPr>
          <a:xfrm>
            <a:off x="365761" y="2906378"/>
            <a:ext cx="6171978" cy="2439728"/>
            <a:chOff x="365760" y="2365248"/>
            <a:chExt cx="6171979" cy="2804160"/>
          </a:xfrm>
        </p:grpSpPr>
        <p:sp>
          <p:nvSpPr>
            <p:cNvPr id="15" name="Shape 13"/>
            <p:cNvSpPr/>
            <p:nvPr/>
          </p:nvSpPr>
          <p:spPr>
            <a:xfrm>
              <a:off x="365760" y="4315968"/>
              <a:ext cx="5547360" cy="853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6ED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65760" y="2365248"/>
              <a:ext cx="5547360" cy="853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6ED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365760" y="2365248"/>
              <a:ext cx="48768" cy="853440"/>
            </a:xfrm>
            <a:prstGeom prst="rect">
              <a:avLst/>
            </a:prstGeom>
            <a:solidFill>
              <a:srgbClr val="1A2E4A"/>
            </a:solidFill>
            <a:ln w="12700">
              <a:solidFill>
                <a:srgbClr val="1A2E4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12064" y="2401824"/>
              <a:ext cx="524256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>
                  <a:solidFill>
                    <a:srgbClr val="1A2E4A"/>
                  </a:solidFill>
                </a:rPr>
                <a:t>Detect ambiguity</a:t>
              </a:r>
              <a:endParaRPr lang="en-US" sz="1400"/>
            </a:p>
          </p:txBody>
        </p:sp>
        <p:sp>
          <p:nvSpPr>
            <p:cNvPr id="10" name="Text 8"/>
            <p:cNvSpPr/>
            <p:nvPr/>
          </p:nvSpPr>
          <p:spPr>
            <a:xfrm>
              <a:off x="512064" y="2657856"/>
              <a:ext cx="52425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7">
                  <a:solidFill>
                    <a:srgbClr val="4A5568"/>
                  </a:solidFill>
                </a:rPr>
                <a:t>"best performing" → decision-criterion ambiguity</a:t>
              </a:r>
              <a:endParaRPr lang="en-US" sz="1307"/>
            </a:p>
          </p:txBody>
        </p:sp>
        <p:sp>
          <p:nvSpPr>
            <p:cNvPr id="11" name="Shape 9"/>
            <p:cNvSpPr/>
            <p:nvPr/>
          </p:nvSpPr>
          <p:spPr>
            <a:xfrm>
              <a:off x="365760" y="3340608"/>
              <a:ext cx="5547360" cy="853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6ED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365760" y="3340608"/>
              <a:ext cx="48768" cy="853440"/>
            </a:xfrm>
            <a:prstGeom prst="rect">
              <a:avLst/>
            </a:prstGeom>
            <a:solidFill>
              <a:srgbClr val="1A2E4A"/>
            </a:solidFill>
            <a:ln w="12700">
              <a:solidFill>
                <a:srgbClr val="1A2E4A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12064" y="3377184"/>
              <a:ext cx="524256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>
                  <a:solidFill>
                    <a:srgbClr val="1A2E4A"/>
                  </a:solidFill>
                </a:rPr>
                <a:t>Clarify with user</a:t>
              </a:r>
              <a:endParaRPr lang="en-US" sz="1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4315968"/>
              <a:ext cx="48768" cy="853440"/>
            </a:xfrm>
            <a:prstGeom prst="rect">
              <a:avLst/>
            </a:prstGeom>
            <a:solidFill>
              <a:srgbClr val="1A2E4A"/>
            </a:solidFill>
            <a:ln w="12700">
              <a:solidFill>
                <a:srgbClr val="1A2E4A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12064" y="4352544"/>
              <a:ext cx="524256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>
                  <a:solidFill>
                    <a:srgbClr val="1A2E4A"/>
                  </a:solidFill>
                </a:rPr>
                <a:t>Knowledge Store</a:t>
              </a:r>
              <a:endParaRPr lang="en-US" sz="1400"/>
            </a:p>
          </p:txBody>
        </p:sp>
        <p:sp>
          <p:nvSpPr>
            <p:cNvPr id="18" name="Text 16"/>
            <p:cNvSpPr/>
            <p:nvPr/>
          </p:nvSpPr>
          <p:spPr>
            <a:xfrm>
              <a:off x="512064" y="4608576"/>
              <a:ext cx="52425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7">
                  <a:solidFill>
                    <a:srgbClr val="4A5568"/>
                  </a:solidFill>
                </a:rPr>
                <a:t>Embedding match on (context_key, ambiguity_key) pairs — reuses prior sessions</a:t>
              </a:r>
              <a:endParaRPr lang="en-US" sz="1307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3E2E3E-7C12-7B0A-1699-AA23084B4B45}"/>
                </a:ext>
              </a:extLst>
            </p:cNvPr>
            <p:cNvSpPr txBox="1"/>
            <p:nvPr/>
          </p:nvSpPr>
          <p:spPr>
            <a:xfrm>
              <a:off x="441739" y="3627783"/>
              <a:ext cx="6096000" cy="76944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 rtl="0"/>
              <a:r>
                <a:rPr lang="en-US" sz="1300" b="0" i="0" u="none" strike="noStrike" baseline="0">
                  <a:solidFill>
                    <a:srgbClr val="4A5568"/>
                  </a:solidFill>
                  <a:latin typeface="Calibri"/>
                </a:rPr>
                <a:t>Present ranked options from knowledge store:</a:t>
              </a:r>
              <a:r>
                <a:rPr lang="en-US" sz="1300" b="0" i="0">
                  <a:latin typeface="Calibri"/>
                </a:rPr>
                <a:t>​</a:t>
              </a:r>
            </a:p>
            <a:p>
              <a:pPr algn="l" rtl="0"/>
              <a:r>
                <a:rPr lang="en-US" sz="1300" b="0" i="0" u="none" strike="noStrike" baseline="0">
                  <a:solidFill>
                    <a:srgbClr val="4A5568"/>
                  </a:solidFill>
                  <a:latin typeface="Calibri"/>
                </a:rPr>
                <a:t>1. Sales Revenue (60%) 2. Reviews (15%) 3. Frequency (10%)</a:t>
              </a:r>
              <a:r>
                <a:rPr lang="en-US" sz="1300" b="0" i="0">
                  <a:latin typeface="Calibri"/>
                </a:rPr>
                <a:t>​</a:t>
              </a:r>
            </a:p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Stages 4–6: Query Decomposition &amp; Integrated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6720" y="1121664"/>
            <a:ext cx="11338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4A5568"/>
                </a:solidFill>
              </a:rPr>
              <a:t>The decomposer partitions each query into what SQL can answer and what the LLM must reason over — then merges both.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32021" y="2091104"/>
            <a:ext cx="2926080" cy="22189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9064" y="2157364"/>
            <a:ext cx="3268427" cy="21968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50" b="1" dirty="0">
                <a:solidFill>
                  <a:srgbClr val="FFFFFF"/>
                </a:solidFill>
              </a:rPr>
              <a:t>Stage 4
</a:t>
            </a:r>
            <a:endParaRPr lang="en-US" sz="1450" dirty="0"/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Query Decomposer</a:t>
            </a: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endParaRPr lang="en-US" sz="1250" dirty="0">
              <a:solidFill>
                <a:srgbClr val="B0C4D8"/>
              </a:solidFill>
            </a:endParaRPr>
          </a:p>
          <a:p>
            <a:pPr algn="ctr"/>
            <a:r>
              <a:rPr lang="en-US" sz="1250" dirty="0">
                <a:solidFill>
                  <a:srgbClr val="B0C4D8"/>
                </a:solidFill>
              </a:rPr>
              <a:t>Conditioned on candidate</a:t>
            </a:r>
            <a:endParaRPr lang="en-US" sz="1250" dirty="0">
              <a:ea typeface="Calibri"/>
              <a:cs typeface="Calibri"/>
            </a:endParaRPr>
          </a:p>
          <a:p>
            <a:pPr algn="ctr"/>
            <a:r>
              <a:rPr lang="en-US" sz="1267" dirty="0">
                <a:solidFill>
                  <a:srgbClr val="B0C4D8"/>
                </a:solidFill>
              </a:rPr>
              <a:t>attribute–value signals</a:t>
            </a:r>
            <a:endParaRPr lang="en-US" sz="1467" dirty="0"/>
          </a:p>
          <a:p>
            <a:pPr algn="ctr"/>
            <a:r>
              <a:rPr lang="en-US" sz="1267" dirty="0">
                <a:solidFill>
                  <a:srgbClr val="B0C4D8"/>
                </a:solidFill>
              </a:rPr>
              <a:t>from Stage 3.</a:t>
            </a:r>
            <a:endParaRPr lang="en-US" sz="1467" dirty="0"/>
          </a:p>
          <a:p>
            <a:pPr algn="ctr"/>
            <a:endParaRPr lang="en-US" sz="1450" dirty="0">
              <a:solidFill>
                <a:srgbClr val="000000"/>
              </a:solidFill>
            </a:endParaRPr>
          </a:p>
          <a:p>
            <a:pPr algn="ctr"/>
            <a:r>
              <a:rPr lang="en-US" sz="1267" dirty="0">
                <a:solidFill>
                  <a:srgbClr val="B0C4D8"/>
                </a:solidFill>
              </a:rPr>
              <a:t>Selects correct column</a:t>
            </a:r>
            <a:endParaRPr lang="en-US" sz="1467" dirty="0"/>
          </a:p>
          <a:p>
            <a:pPr algn="ctr"/>
            <a:r>
              <a:rPr lang="en-US" sz="1267" dirty="0">
                <a:solidFill>
                  <a:srgbClr val="B0C4D8"/>
                </a:solidFill>
              </a:rPr>
              <a:t>&amp; resolved DB value.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3840480" y="1682496"/>
            <a:ext cx="3901440" cy="1024128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682496"/>
            <a:ext cx="48768" cy="1024128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2400" y="1719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A7F7F"/>
                </a:solidFill>
              </a:rPr>
              <a:t>SQL Sub-Query (Structured)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3962400" y="1999488"/>
            <a:ext cx="3657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A2E4A"/>
                </a:solidFill>
                <a:latin typeface="Courier New"/>
                <a:ea typeface="Courier New" pitchFamily="34" charset="-122"/>
                <a:cs typeface="Courier New"/>
              </a:rPr>
              <a:t>SELECT </a:t>
            </a:r>
            <a:r>
              <a:rPr lang="en-US" sz="1100" err="1">
                <a:solidFill>
                  <a:srgbClr val="1A2E4A"/>
                </a:solidFill>
                <a:latin typeface="Courier New"/>
                <a:ea typeface="Courier New" pitchFamily="34" charset="-122"/>
                <a:cs typeface="Courier New"/>
              </a:rPr>
              <a:t>product_name</a:t>
            </a:r>
            <a:r>
              <a:rPr lang="en-US" sz="1100">
                <a:solidFill>
                  <a:srgbClr val="1A2E4A"/>
                </a:solidFill>
                <a:latin typeface="Courier New"/>
                <a:ea typeface="Courier New" pitchFamily="34" charset="-122"/>
                <a:cs typeface="Courier New"/>
              </a:rPr>
              <a:t>, brand, SUM(price)</a:t>
            </a:r>
            <a:endParaRPr lang="en-US" sz="1100">
              <a:latin typeface="Courier New"/>
              <a:cs typeface="Courier New"/>
            </a:endParaRPr>
          </a:p>
          <a:p>
            <a:r>
              <a:rPr lang="en-US" sz="1133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... WHERE category='Beauty &amp; Hygiene'</a:t>
            </a:r>
            <a:endParaRPr lang="en-US" sz="1133" dirty="0"/>
          </a:p>
          <a:p>
            <a:r>
              <a:rPr lang="en-US" sz="1100">
                <a:solidFill>
                  <a:srgbClr val="1A2E4A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1100" err="1">
                <a:solidFill>
                  <a:srgbClr val="1A2E4A"/>
                </a:solidFill>
                <a:latin typeface="Courier New"/>
                <a:ea typeface="Courier New" pitchFamily="34" charset="-122"/>
                <a:cs typeface="Courier New"/>
              </a:rPr>
              <a:t>product_name</a:t>
            </a:r>
            <a:r>
              <a:rPr lang="en-US" sz="1100">
                <a:solidFill>
                  <a:srgbClr val="1A2E4A"/>
                </a:solidFill>
                <a:latin typeface="Courier New"/>
                <a:ea typeface="Courier New" pitchFamily="34" charset="-122"/>
                <a:cs typeface="Courier New"/>
              </a:rPr>
              <a:t> ORDER BY revenue DESC</a:t>
            </a:r>
            <a:endParaRPr lang="en-US" sz="1100">
              <a:latin typeface="Courier New"/>
              <a:cs typeface="Courier New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A35D87-C1FD-AB76-7909-AA4421101AD1}"/>
              </a:ext>
            </a:extLst>
          </p:cNvPr>
          <p:cNvGrpSpPr/>
          <p:nvPr/>
        </p:nvGrpSpPr>
        <p:grpSpPr>
          <a:xfrm>
            <a:off x="3851524" y="3597435"/>
            <a:ext cx="3901441" cy="1024128"/>
            <a:chOff x="3840480" y="2901696"/>
            <a:chExt cx="3901440" cy="1024128"/>
          </a:xfrm>
        </p:grpSpPr>
        <p:sp>
          <p:nvSpPr>
            <p:cNvPr id="12" name="Shape 10"/>
            <p:cNvSpPr/>
            <p:nvPr/>
          </p:nvSpPr>
          <p:spPr>
            <a:xfrm>
              <a:off x="3840480" y="2901696"/>
              <a:ext cx="3901440" cy="1024128"/>
            </a:xfrm>
            <a:prstGeom prst="rect">
              <a:avLst/>
            </a:prstGeom>
            <a:solidFill>
              <a:srgbClr val="F4F6F8"/>
            </a:solidFill>
            <a:ln w="12700">
              <a:solidFill>
                <a:srgbClr val="E0E6ED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3840480" y="2901696"/>
              <a:ext cx="48768" cy="1024128"/>
            </a:xfrm>
            <a:prstGeom prst="rect">
              <a:avLst/>
            </a:prstGeom>
            <a:solidFill>
              <a:srgbClr val="1A2E4A"/>
            </a:solidFill>
            <a:ln w="12700">
              <a:solidFill>
                <a:srgbClr val="1A2E4A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962400" y="2938272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>
                  <a:solidFill>
                    <a:srgbClr val="1A2E4A"/>
                  </a:solidFill>
                </a:rPr>
                <a:t>NL Sub-Query (Unstructured)</a:t>
              </a:r>
              <a:endParaRPr lang="en-US" sz="1333"/>
            </a:p>
          </p:txBody>
        </p:sp>
        <p:sp>
          <p:nvSpPr>
            <p:cNvPr id="15" name="Text 13"/>
            <p:cNvSpPr/>
            <p:nvPr/>
          </p:nvSpPr>
          <p:spPr>
            <a:xfrm>
              <a:off x="3962400" y="3218688"/>
              <a:ext cx="3657600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i="1">
                  <a:solidFill>
                    <a:srgbClr val="1A2E4A"/>
                  </a:solidFill>
                </a:rPr>
                <a:t>"From these top products by revenue, identify which brands are environmentally friendly."</a:t>
              </a:r>
              <a:endParaRPr lang="en-US" sz="1200"/>
            </a:p>
          </p:txBody>
        </p:sp>
      </p:grpSp>
      <p:sp>
        <p:nvSpPr>
          <p:cNvPr id="16" name="Shape 14"/>
          <p:cNvSpPr/>
          <p:nvPr/>
        </p:nvSpPr>
        <p:spPr>
          <a:xfrm>
            <a:off x="7985760" y="1682496"/>
            <a:ext cx="1889760" cy="102412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5760" y="1682496"/>
            <a:ext cx="1889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Stage 5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Executor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29934" y="3597435"/>
            <a:ext cx="1911848" cy="10241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9935" y="3597434"/>
            <a:ext cx="1911847" cy="1024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Stage 6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LLM Executor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41920" y="2194560"/>
            <a:ext cx="24384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4003573" y="4672717"/>
            <a:ext cx="343231" cy="77303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02650" y="4164717"/>
            <a:ext cx="60960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67671" y="2864237"/>
            <a:ext cx="1645920" cy="670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7801" y="2974671"/>
            <a:ext cx="1325660" cy="449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Integrated</a:t>
            </a:r>
            <a:endParaRPr lang="en-US" sz="1267" dirty="0"/>
          </a:p>
          <a:p>
            <a:pPr algn="ctr"/>
            <a:r>
              <a:rPr lang="en-US" sz="1267" b="1" dirty="0">
                <a:solidFill>
                  <a:srgbClr val="FFFFFF"/>
                </a:solidFill>
              </a:rPr>
              <a:t>Response</a:t>
            </a:r>
            <a:endParaRPr lang="en-US" sz="1267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8ACAD2-B994-0D8C-9AA8-1E68AE3CB2FE}"/>
              </a:ext>
            </a:extLst>
          </p:cNvPr>
          <p:cNvGrpSpPr/>
          <p:nvPr/>
        </p:nvGrpSpPr>
        <p:grpSpPr>
          <a:xfrm>
            <a:off x="332630" y="5481010"/>
            <a:ext cx="3646557" cy="995240"/>
            <a:chOff x="365760" y="4608576"/>
            <a:chExt cx="3657600" cy="1889760"/>
          </a:xfrm>
        </p:grpSpPr>
        <p:sp>
          <p:nvSpPr>
            <p:cNvPr id="28" name="Shape 26"/>
            <p:cNvSpPr/>
            <p:nvPr/>
          </p:nvSpPr>
          <p:spPr>
            <a:xfrm>
              <a:off x="365760" y="4608576"/>
              <a:ext cx="3657600" cy="1889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6ED"/>
              </a:solidFill>
              <a:prstDash val="solid"/>
            </a:ln>
            <a:effectLst>
              <a:outerShdw blurRad="889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365760" y="4608576"/>
              <a:ext cx="54864" cy="1889760"/>
            </a:xfrm>
            <a:prstGeom prst="rect">
              <a:avLst/>
            </a:prstGeom>
            <a:solidFill>
              <a:srgbClr val="2A7F7F"/>
            </a:solidFill>
            <a:ln w="12700">
              <a:solidFill>
                <a:srgbClr val="2A7F7F"/>
              </a:solidFill>
              <a:prstDash val="solid"/>
            </a:ln>
          </p:spPr>
        </p:sp>
      </p:grpSp>
      <p:sp>
        <p:nvSpPr>
          <p:cNvPr id="30" name="Text 28"/>
          <p:cNvSpPr/>
          <p:nvPr/>
        </p:nvSpPr>
        <p:spPr>
          <a:xfrm>
            <a:off x="487680" y="5590739"/>
            <a:ext cx="3474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A7F7F"/>
                </a:solidFill>
              </a:rPr>
              <a:t>Value Grounding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507" y="5908879"/>
            <a:ext cx="3460231" cy="55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4A5568"/>
                </a:solidFill>
              </a:rPr>
              <a:t>"cosmetics" → category = 'Beauty &amp; Hygiene'  (no hallucination)</a:t>
            </a:r>
            <a:endParaRPr lang="en-US" sz="1333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2A351C-E3B9-6DF9-B7C1-F6835ECA09C7}"/>
              </a:ext>
            </a:extLst>
          </p:cNvPr>
          <p:cNvGrpSpPr/>
          <p:nvPr/>
        </p:nvGrpSpPr>
        <p:grpSpPr>
          <a:xfrm>
            <a:off x="4291584" y="5492054"/>
            <a:ext cx="3690730" cy="995239"/>
            <a:chOff x="4291584" y="4608576"/>
            <a:chExt cx="3657600" cy="1889760"/>
          </a:xfrm>
        </p:grpSpPr>
        <p:sp>
          <p:nvSpPr>
            <p:cNvPr id="32" name="Shape 30"/>
            <p:cNvSpPr/>
            <p:nvPr/>
          </p:nvSpPr>
          <p:spPr>
            <a:xfrm>
              <a:off x="4291584" y="4608576"/>
              <a:ext cx="3657600" cy="1889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6ED"/>
              </a:solidFill>
              <a:prstDash val="solid"/>
            </a:ln>
            <a:effectLst>
              <a:outerShdw blurRad="889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4291584" y="4608576"/>
              <a:ext cx="54864" cy="1889760"/>
            </a:xfrm>
            <a:prstGeom prst="rect">
              <a:avLst/>
            </a:prstGeom>
            <a:solidFill>
              <a:srgbClr val="1A2E4A"/>
            </a:solidFill>
            <a:ln w="12700">
              <a:solidFill>
                <a:srgbClr val="1A2E4A"/>
              </a:solidFill>
              <a:prstDash val="solid"/>
            </a:ln>
          </p:spPr>
        </p:sp>
      </p:grpSp>
      <p:sp>
        <p:nvSpPr>
          <p:cNvPr id="34" name="Text 32"/>
          <p:cNvSpPr/>
          <p:nvPr/>
        </p:nvSpPr>
        <p:spPr>
          <a:xfrm>
            <a:off x="4435590" y="5723260"/>
            <a:ext cx="3441591" cy="4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A2E4A"/>
                </a:solidFill>
                <a:ea typeface="Calibri"/>
                <a:cs typeface="Calibri"/>
              </a:rPr>
              <a:t>Structured Data provided as Context</a:t>
            </a:r>
          </a:p>
        </p:txBody>
      </p:sp>
      <p:sp>
        <p:nvSpPr>
          <p:cNvPr id="35" name="Text 33"/>
          <p:cNvSpPr/>
          <p:nvPr/>
        </p:nvSpPr>
        <p:spPr>
          <a:xfrm>
            <a:off x="4424547" y="5919922"/>
            <a:ext cx="3438144" cy="52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4A5568"/>
                </a:solidFill>
              </a:rPr>
              <a:t>Top-50 SQL rows passed as evidence into the LLM prompt for unstructured reasoning</a:t>
            </a:r>
            <a:endParaRPr lang="en-US" sz="1333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E8C4F62-A6EF-6C33-BE11-1DB240C6D76F}"/>
              </a:ext>
            </a:extLst>
          </p:cNvPr>
          <p:cNvGrpSpPr/>
          <p:nvPr/>
        </p:nvGrpSpPr>
        <p:grpSpPr>
          <a:xfrm>
            <a:off x="8217408" y="5492054"/>
            <a:ext cx="3613427" cy="995239"/>
            <a:chOff x="8217408" y="4608576"/>
            <a:chExt cx="3657600" cy="1889760"/>
          </a:xfrm>
        </p:grpSpPr>
        <p:sp>
          <p:nvSpPr>
            <p:cNvPr id="36" name="Shape 34"/>
            <p:cNvSpPr/>
            <p:nvPr/>
          </p:nvSpPr>
          <p:spPr>
            <a:xfrm>
              <a:off x="8217408" y="4608576"/>
              <a:ext cx="3657600" cy="1889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6ED"/>
              </a:solidFill>
              <a:prstDash val="solid"/>
            </a:ln>
            <a:effectLst>
              <a:outerShdw blurRad="889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8217408" y="4608576"/>
              <a:ext cx="54864" cy="1889760"/>
            </a:xfrm>
            <a:prstGeom prst="rect">
              <a:avLst/>
            </a:prstGeom>
            <a:solidFill>
              <a:srgbClr val="1A2E4A"/>
            </a:solidFill>
            <a:ln w="12700">
              <a:solidFill>
                <a:srgbClr val="1A2E4A"/>
              </a:solidFill>
              <a:prstDash val="solid"/>
            </a:ln>
          </p:spPr>
        </p:sp>
      </p:grpSp>
      <p:sp>
        <p:nvSpPr>
          <p:cNvPr id="38" name="Text 36"/>
          <p:cNvSpPr/>
          <p:nvPr/>
        </p:nvSpPr>
        <p:spPr>
          <a:xfrm>
            <a:off x="8328285" y="5601782"/>
            <a:ext cx="3474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A2E4A"/>
                </a:solidFill>
                <a:ea typeface="Calibri"/>
                <a:cs typeface="Calibri"/>
              </a:rPr>
              <a:t>Integrated Response</a:t>
            </a:r>
          </a:p>
        </p:txBody>
      </p:sp>
      <p:sp>
        <p:nvSpPr>
          <p:cNvPr id="39" name="Text 37"/>
          <p:cNvSpPr/>
          <p:nvPr/>
        </p:nvSpPr>
        <p:spPr>
          <a:xfrm>
            <a:off x="8361415" y="5908878"/>
            <a:ext cx="3405014" cy="53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4A5568"/>
                </a:solidFill>
              </a:rPr>
              <a:t>Revenue-ranked products + brand sustainability assessment in one unified response</a:t>
            </a:r>
            <a:endParaRPr lang="en-US" sz="1333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6E60D4B-0B3E-41A7-1A5E-3C8AB24A9C75}"/>
              </a:ext>
            </a:extLst>
          </p:cNvPr>
          <p:cNvCxnSpPr/>
          <p:nvPr/>
        </p:nvCxnSpPr>
        <p:spPr>
          <a:xfrm>
            <a:off x="3356883" y="3131418"/>
            <a:ext cx="497202" cy="10385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BE3E2B3-B8F6-329E-63F4-96C2BD4C43DF}"/>
              </a:ext>
            </a:extLst>
          </p:cNvPr>
          <p:cNvCxnSpPr/>
          <p:nvPr/>
        </p:nvCxnSpPr>
        <p:spPr>
          <a:xfrm flipV="1">
            <a:off x="3356884" y="2173095"/>
            <a:ext cx="488127" cy="9723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hape 18">
            <a:extLst>
              <a:ext uri="{FF2B5EF4-FFF2-40B4-BE49-F238E27FC236}">
                <a16:creationId xmlns:a16="http://schemas.microsoft.com/office/drawing/2014/main" id="{6934805C-61AC-9879-6EE0-0C934D2A60C8}"/>
              </a:ext>
            </a:extLst>
          </p:cNvPr>
          <p:cNvSpPr/>
          <p:nvPr/>
        </p:nvSpPr>
        <p:spPr>
          <a:xfrm>
            <a:off x="7752965" y="4149942"/>
            <a:ext cx="276968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5632B22-FE70-782D-DD60-1B6291A55501}"/>
              </a:ext>
            </a:extLst>
          </p:cNvPr>
          <p:cNvCxnSpPr>
            <a:stCxn id="17" idx="3"/>
            <a:endCxn id="26" idx="1"/>
          </p:cNvCxnSpPr>
          <p:nvPr/>
        </p:nvCxnSpPr>
        <p:spPr>
          <a:xfrm>
            <a:off x="9875520" y="2194560"/>
            <a:ext cx="592151" cy="10049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976C139-BCAB-B0D2-DE6C-5C0BEFB414C0}"/>
              </a:ext>
            </a:extLst>
          </p:cNvPr>
          <p:cNvCxnSpPr>
            <a:stCxn id="19" idx="3"/>
            <a:endCxn id="26" idx="1"/>
          </p:cNvCxnSpPr>
          <p:nvPr/>
        </p:nvCxnSpPr>
        <p:spPr>
          <a:xfrm flipV="1">
            <a:off x="9941782" y="3199517"/>
            <a:ext cx="525889" cy="909982"/>
          </a:xfrm>
          <a:prstGeom prst="bentConnector3">
            <a:avLst>
              <a:gd name="adj1" fmla="val 4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UniQuery_Talk-2</Template>
  <TotalTime>161</TotalTime>
  <Words>704</Words>
  <Application>Microsoft Office PowerPoint</Application>
  <PresentationFormat>Widescreen</PresentationFormat>
  <Paragraphs>124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Courier New</vt:lpstr>
      <vt:lpstr>Inconsolatazi4-Regular</vt:lpstr>
      <vt:lpstr>LinLibertineT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harsh0rajput41@outlook.com</dc:creator>
  <cp:lastModifiedBy>harsh0rajput41@outlook.com</cp:lastModifiedBy>
  <cp:revision>3</cp:revision>
  <dcterms:created xsi:type="dcterms:W3CDTF">2026-04-26T20:03:34Z</dcterms:created>
  <dcterms:modified xsi:type="dcterms:W3CDTF">2026-04-26T22:50:23Z</dcterms:modified>
</cp:coreProperties>
</file>